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4" r:id="rId18"/>
    <p:sldId id="277" r:id="rId19"/>
    <p:sldId id="278" r:id="rId20"/>
    <p:sldId id="279" r:id="rId21"/>
    <p:sldId id="280" r:id="rId22"/>
    <p:sldId id="270" r:id="rId23"/>
    <p:sldId id="271" r:id="rId24"/>
    <p:sldId id="272" r:id="rId25"/>
  </p:sldIdLst>
  <p:sldSz cx="18288000" cy="10287000"/>
  <p:notesSz cx="6858000" cy="9144000"/>
  <p:embeddedFontLs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Bold" panose="00000800000000000000" charset="0"/>
      <p:regular r:id="rId30"/>
      <p:bold r:id="rId31"/>
    </p:embeddedFont>
    <p:embeddedFont>
      <p:font typeface="Poppins ExtraLight" panose="00000300000000000000" pitchFamily="2" charset="0"/>
      <p:regular r:id="rId32"/>
      <p:italic r:id="rId33"/>
    </p:embeddedFont>
    <p:embeddedFont>
      <p:font typeface="Poppins Extra-Light" panose="020B0604020202020204" charset="0"/>
      <p:regular r:id="rId34"/>
    </p:embeddedFont>
    <p:embeddedFont>
      <p:font typeface="Poppins Light" panose="00000400000000000000" pitchFamily="2" charset="0"/>
      <p:regular r:id="rId35"/>
      <p:italic r:id="rId36"/>
    </p:embeddedFont>
    <p:embeddedFont>
      <p:font typeface="Poppins Semi-Bold" panose="020B0604020202020204" charset="0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B90A93-1063-4DC9-8A24-78B38F0285BB}" v="1" dt="2026-04-25T10:08:18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8" autoAdjust="0"/>
    <p:restoredTop sz="93647" autoAdjust="0"/>
  </p:normalViewPr>
  <p:slideViewPr>
    <p:cSldViewPr>
      <p:cViewPr varScale="1">
        <p:scale>
          <a:sx n="46" d="100"/>
          <a:sy n="46" d="100"/>
        </p:scale>
        <p:origin x="3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v Sivilia" userId="9ba6b5fea9befc67" providerId="LiveId" clId="{D7FC6E35-D467-4436-99B2-E5DFB47391D6}"/>
    <pc:docChg chg="custSel modSld">
      <pc:chgData name="Stav Sivilia" userId="9ba6b5fea9befc67" providerId="LiveId" clId="{D7FC6E35-D467-4436-99B2-E5DFB47391D6}" dt="2026-04-25T10:08:18.834" v="63"/>
      <pc:docMkLst>
        <pc:docMk/>
      </pc:docMkLst>
      <pc:sldChg chg="modSp mod">
        <pc:chgData name="Stav Sivilia" userId="9ba6b5fea9befc67" providerId="LiveId" clId="{D7FC6E35-D467-4436-99B2-E5DFB47391D6}" dt="2026-04-25T10:08:18.834" v="63"/>
        <pc:sldMkLst>
          <pc:docMk/>
          <pc:sldMk cId="2925021639" sldId="280"/>
        </pc:sldMkLst>
        <pc:spChg chg="mod">
          <ac:chgData name="Stav Sivilia" userId="9ba6b5fea9befc67" providerId="LiveId" clId="{D7FC6E35-D467-4436-99B2-E5DFB47391D6}" dt="2026-04-25T10:05:58.664" v="38" actId="1036"/>
          <ac:spMkLst>
            <pc:docMk/>
            <pc:sldMk cId="2925021639" sldId="280"/>
            <ac:spMk id="7" creationId="{7360BCBF-B3D9-B855-0783-DB09D5427D33}"/>
          </ac:spMkLst>
        </pc:spChg>
        <pc:spChg chg="mod">
          <ac:chgData name="Stav Sivilia" userId="9ba6b5fea9befc67" providerId="LiveId" clId="{D7FC6E35-D467-4436-99B2-E5DFB47391D6}" dt="2026-04-25T10:08:18.834" v="63"/>
          <ac:spMkLst>
            <pc:docMk/>
            <pc:sldMk cId="2925021639" sldId="280"/>
            <ac:spMk id="12" creationId="{738400CC-5D97-C08A-03B6-A60FC615C605}"/>
          </ac:spMkLst>
        </pc:spChg>
        <pc:spChg chg="mod">
          <ac:chgData name="Stav Sivilia" userId="9ba6b5fea9befc67" providerId="LiveId" clId="{D7FC6E35-D467-4436-99B2-E5DFB47391D6}" dt="2026-04-25T10:06:34.993" v="57" actId="20577"/>
          <ac:spMkLst>
            <pc:docMk/>
            <pc:sldMk cId="2925021639" sldId="280"/>
            <ac:spMk id="14" creationId="{CB8541AF-0C82-3488-E79B-4FA5E899F1EE}"/>
          </ac:spMkLst>
        </pc:spChg>
        <pc:grpChg chg="mod">
          <ac:chgData name="Stav Sivilia" userId="9ba6b5fea9befc67" providerId="LiveId" clId="{D7FC6E35-D467-4436-99B2-E5DFB47391D6}" dt="2026-04-25T10:06:18.678" v="54" actId="14100"/>
          <ac:grpSpMkLst>
            <pc:docMk/>
            <pc:sldMk cId="2925021639" sldId="280"/>
            <ac:grpSpMk id="4" creationId="{B32E9954-502F-2659-9E79-B05684F586CA}"/>
          </ac:grpSpMkLst>
        </pc:grpChg>
        <pc:grpChg chg="mod">
          <ac:chgData name="Stav Sivilia" userId="9ba6b5fea9befc67" providerId="LiveId" clId="{D7FC6E35-D467-4436-99B2-E5DFB47391D6}" dt="2026-04-25T10:06:03.155" v="44" actId="1035"/>
          <ac:grpSpMkLst>
            <pc:docMk/>
            <pc:sldMk cId="2925021639" sldId="280"/>
            <ac:grpSpMk id="9" creationId="{E4D64A50-8173-5ED0-0A9A-0D32B73C9DF7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sv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1679566" y="342900"/>
            <a:ext cx="6075034" cy="2861002"/>
            <a:chOff x="0" y="0"/>
            <a:chExt cx="941182" cy="4432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182" cy="443244"/>
            </a:xfrm>
            <a:custGeom>
              <a:avLst/>
              <a:gdLst/>
              <a:ahLst/>
              <a:cxnLst/>
              <a:rect l="l" t="t" r="r" b="b"/>
              <a:pathLst>
                <a:path w="941182" h="443244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17756"/>
                  </a:lnTo>
                  <a:cubicBezTo>
                    <a:pt x="941182" y="431833"/>
                    <a:pt x="929771" y="443244"/>
                    <a:pt x="915694" y="443244"/>
                  </a:cubicBezTo>
                  <a:lnTo>
                    <a:pt x="25488" y="443244"/>
                  </a:lnTo>
                  <a:cubicBezTo>
                    <a:pt x="11411" y="443244"/>
                    <a:pt x="0" y="431833"/>
                    <a:pt x="0" y="417756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3"/>
              <a:stretch>
                <a:fillRect t="-4436" b="-4436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79566" y="3806498"/>
            <a:ext cx="6075034" cy="2861002"/>
            <a:chOff x="0" y="0"/>
            <a:chExt cx="941182" cy="443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182" cy="443244"/>
            </a:xfrm>
            <a:custGeom>
              <a:avLst/>
              <a:gdLst/>
              <a:ahLst/>
              <a:cxnLst/>
              <a:rect l="l" t="t" r="r" b="b"/>
              <a:pathLst>
                <a:path w="941182" h="443244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17756"/>
                  </a:lnTo>
                  <a:cubicBezTo>
                    <a:pt x="941182" y="431833"/>
                    <a:pt x="929771" y="443244"/>
                    <a:pt x="915694" y="443244"/>
                  </a:cubicBezTo>
                  <a:lnTo>
                    <a:pt x="25488" y="443244"/>
                  </a:lnTo>
                  <a:cubicBezTo>
                    <a:pt x="11411" y="443244"/>
                    <a:pt x="0" y="431833"/>
                    <a:pt x="0" y="417756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4"/>
              <a:stretch>
                <a:fillRect t="-20735" b="-20735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7814971" y="1818541"/>
            <a:ext cx="2474085" cy="2945505"/>
          </a:xfrm>
          <a:custGeom>
            <a:avLst/>
            <a:gdLst/>
            <a:ahLst/>
            <a:cxnLst/>
            <a:rect l="l" t="t" r="r" b="b"/>
            <a:pathLst>
              <a:path w="2474085" h="2945505">
                <a:moveTo>
                  <a:pt x="2474085" y="0"/>
                </a:moveTo>
                <a:lnTo>
                  <a:pt x="0" y="0"/>
                </a:lnTo>
                <a:lnTo>
                  <a:pt x="0" y="2945505"/>
                </a:lnTo>
                <a:lnTo>
                  <a:pt x="2474085" y="2945505"/>
                </a:lnTo>
                <a:lnTo>
                  <a:pt x="24740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TextBox 8"/>
          <p:cNvSpPr txBox="1"/>
          <p:nvPr/>
        </p:nvSpPr>
        <p:spPr>
          <a:xfrm>
            <a:off x="1664332" y="3126379"/>
            <a:ext cx="8090262" cy="280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46"/>
              </a:lnSpc>
            </a:pPr>
            <a:r>
              <a:rPr lang="en-US" sz="1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NORTHERN LIGHTS 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64332" y="6563638"/>
            <a:ext cx="809026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6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MAKING TRAVEL EASY AND MEMORABLE</a:t>
            </a:r>
          </a:p>
        </p:txBody>
      </p:sp>
      <p:sp>
        <p:nvSpPr>
          <p:cNvPr id="10" name="Freeform 10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4514358" y="6732633"/>
            <a:ext cx="3322517" cy="2538581"/>
            <a:chOff x="0" y="0"/>
            <a:chExt cx="875066" cy="668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5066" cy="668598"/>
            </a:xfrm>
            <a:custGeom>
              <a:avLst/>
              <a:gdLst/>
              <a:ahLst/>
              <a:cxnLst/>
              <a:rect l="l" t="t" r="r" b="b"/>
              <a:pathLst>
                <a:path w="875066" h="668598">
                  <a:moveTo>
                    <a:pt x="60584" y="0"/>
                  </a:moveTo>
                  <a:lnTo>
                    <a:pt x="814483" y="0"/>
                  </a:lnTo>
                  <a:cubicBezTo>
                    <a:pt x="847942" y="0"/>
                    <a:pt x="875066" y="27124"/>
                    <a:pt x="875066" y="60584"/>
                  </a:cubicBezTo>
                  <a:lnTo>
                    <a:pt x="875066" y="608014"/>
                  </a:lnTo>
                  <a:cubicBezTo>
                    <a:pt x="875066" y="641473"/>
                    <a:pt x="847942" y="668598"/>
                    <a:pt x="814483" y="668598"/>
                  </a:cubicBezTo>
                  <a:lnTo>
                    <a:pt x="60584" y="668598"/>
                  </a:lnTo>
                  <a:cubicBezTo>
                    <a:pt x="27124" y="668598"/>
                    <a:pt x="0" y="641473"/>
                    <a:pt x="0" y="608014"/>
                  </a:cubicBezTo>
                  <a:lnTo>
                    <a:pt x="0" y="60584"/>
                  </a:lnTo>
                  <a:cubicBezTo>
                    <a:pt x="0" y="27124"/>
                    <a:pt x="27124" y="0"/>
                    <a:pt x="6058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75066" cy="72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428949" y="4526339"/>
            <a:ext cx="5812915" cy="220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91591" y="776528"/>
            <a:ext cx="5812915" cy="119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MENTOR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338371" y="1967729"/>
            <a:ext cx="3850585" cy="1323565"/>
            <a:chOff x="0" y="0"/>
            <a:chExt cx="1014146" cy="3485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4146" cy="348593"/>
            </a:xfrm>
            <a:custGeom>
              <a:avLst/>
              <a:gdLst/>
              <a:ahLst/>
              <a:cxnLst/>
              <a:rect l="l" t="t" r="r" b="b"/>
              <a:pathLst>
                <a:path w="1014146" h="348593">
                  <a:moveTo>
                    <a:pt x="52275" y="0"/>
                  </a:moveTo>
                  <a:lnTo>
                    <a:pt x="961871" y="0"/>
                  </a:lnTo>
                  <a:cubicBezTo>
                    <a:pt x="975735" y="0"/>
                    <a:pt x="989031" y="5508"/>
                    <a:pt x="998835" y="15311"/>
                  </a:cubicBezTo>
                  <a:cubicBezTo>
                    <a:pt x="1008638" y="25115"/>
                    <a:pt x="1014146" y="38411"/>
                    <a:pt x="1014146" y="52275"/>
                  </a:cubicBezTo>
                  <a:lnTo>
                    <a:pt x="1014146" y="296318"/>
                  </a:lnTo>
                  <a:cubicBezTo>
                    <a:pt x="1014146" y="325189"/>
                    <a:pt x="990742" y="348593"/>
                    <a:pt x="961871" y="348593"/>
                  </a:cubicBezTo>
                  <a:lnTo>
                    <a:pt x="52275" y="348593"/>
                  </a:lnTo>
                  <a:cubicBezTo>
                    <a:pt x="23404" y="348593"/>
                    <a:pt x="0" y="325189"/>
                    <a:pt x="0" y="296318"/>
                  </a:cubicBezTo>
                  <a:lnTo>
                    <a:pt x="0" y="52275"/>
                  </a:lnTo>
                  <a:cubicBezTo>
                    <a:pt x="0" y="38411"/>
                    <a:pt x="5508" y="25115"/>
                    <a:pt x="15311" y="15311"/>
                  </a:cubicBezTo>
                  <a:cubicBezTo>
                    <a:pt x="25115" y="5508"/>
                    <a:pt x="38411" y="0"/>
                    <a:pt x="52275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14146" cy="405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3389202" y="345789"/>
            <a:ext cx="2474085" cy="2945505"/>
          </a:xfrm>
          <a:custGeom>
            <a:avLst/>
            <a:gdLst/>
            <a:ahLst/>
            <a:cxnLst/>
            <a:rect l="l" t="t" r="r" b="b"/>
            <a:pathLst>
              <a:path w="2474085" h="2945505">
                <a:moveTo>
                  <a:pt x="2474085" y="0"/>
                </a:moveTo>
                <a:lnTo>
                  <a:pt x="0" y="0"/>
                </a:lnTo>
                <a:lnTo>
                  <a:pt x="0" y="2945505"/>
                </a:lnTo>
                <a:lnTo>
                  <a:pt x="2474085" y="2945505"/>
                </a:lnTo>
                <a:lnTo>
                  <a:pt x="24740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3" name="Freeform 13"/>
          <p:cNvSpPr/>
          <p:nvPr/>
        </p:nvSpPr>
        <p:spPr>
          <a:xfrm>
            <a:off x="14877630" y="6848158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Freeform 14"/>
          <p:cNvSpPr/>
          <p:nvPr/>
        </p:nvSpPr>
        <p:spPr>
          <a:xfrm>
            <a:off x="14877630" y="7315258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5" name="Freeform 15"/>
          <p:cNvSpPr/>
          <p:nvPr/>
        </p:nvSpPr>
        <p:spPr>
          <a:xfrm>
            <a:off x="14877630" y="7782359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Freeform 16"/>
          <p:cNvSpPr/>
          <p:nvPr/>
        </p:nvSpPr>
        <p:spPr>
          <a:xfrm>
            <a:off x="14877630" y="8240136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6"/>
                </a:lnTo>
                <a:lnTo>
                  <a:pt x="0" y="457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7" name="Freeform 17"/>
          <p:cNvSpPr/>
          <p:nvPr/>
        </p:nvSpPr>
        <p:spPr>
          <a:xfrm>
            <a:off x="14877630" y="8697912"/>
            <a:ext cx="457777" cy="457777"/>
          </a:xfrm>
          <a:custGeom>
            <a:avLst/>
            <a:gdLst/>
            <a:ahLst/>
            <a:cxnLst/>
            <a:rect l="l" t="t" r="r" b="b"/>
            <a:pathLst>
              <a:path w="457777" h="457777">
                <a:moveTo>
                  <a:pt x="0" y="0"/>
                </a:moveTo>
                <a:lnTo>
                  <a:pt x="457777" y="0"/>
                </a:lnTo>
                <a:lnTo>
                  <a:pt x="457777" y="457777"/>
                </a:lnTo>
                <a:lnTo>
                  <a:pt x="0" y="457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8" name="Freeform 18"/>
          <p:cNvSpPr/>
          <p:nvPr/>
        </p:nvSpPr>
        <p:spPr>
          <a:xfrm>
            <a:off x="8763002" y="2227262"/>
            <a:ext cx="632552" cy="706438"/>
          </a:xfrm>
          <a:custGeom>
            <a:avLst/>
            <a:gdLst/>
            <a:ahLst/>
            <a:cxnLst/>
            <a:rect l="l" t="t" r="r" b="b"/>
            <a:pathLst>
              <a:path w="503107" h="591259">
                <a:moveTo>
                  <a:pt x="0" y="0"/>
                </a:moveTo>
                <a:lnTo>
                  <a:pt x="503108" y="0"/>
                </a:lnTo>
                <a:lnTo>
                  <a:pt x="503108" y="591258"/>
                </a:lnTo>
                <a:lnTo>
                  <a:pt x="0" y="591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9" name="TextBox 19"/>
          <p:cNvSpPr txBox="1"/>
          <p:nvPr/>
        </p:nvSpPr>
        <p:spPr>
          <a:xfrm>
            <a:off x="15430839" y="6855396"/>
            <a:ext cx="6295355" cy="225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Yuval Elisha</a:t>
            </a:r>
          </a:p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Dana Lurie</a:t>
            </a:r>
          </a:p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Stav Sivilya</a:t>
            </a:r>
          </a:p>
          <a:p>
            <a:pPr algn="l">
              <a:lnSpc>
                <a:spcPts val="3531"/>
              </a:lnSpc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Lior Moshe</a:t>
            </a:r>
          </a:p>
          <a:p>
            <a:pPr algn="l">
              <a:lnSpc>
                <a:spcPts val="3531"/>
              </a:lnSpc>
              <a:spcBef>
                <a:spcPct val="0"/>
              </a:spcBef>
            </a:pPr>
            <a:r>
              <a:rPr lang="en-US" sz="2522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Ziv Mordoch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25000" y="2354195"/>
            <a:ext cx="2286000" cy="427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528"/>
              </a:lnSpc>
              <a:spcBef>
                <a:spcPct val="0"/>
              </a:spcBef>
            </a:pPr>
            <a:r>
              <a:rPr lang="en-US" sz="252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Tali Fulman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76974" y="4274030"/>
            <a:ext cx="5816589" cy="5256879"/>
            <a:chOff x="0" y="0"/>
            <a:chExt cx="954198" cy="86237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4198" cy="862379"/>
            </a:xfrm>
            <a:custGeom>
              <a:avLst/>
              <a:gdLst/>
              <a:ahLst/>
              <a:cxnLst/>
              <a:rect l="l" t="t" r="r" b="b"/>
              <a:pathLst>
                <a:path w="954198" h="862379">
                  <a:moveTo>
                    <a:pt x="19965" y="0"/>
                  </a:moveTo>
                  <a:lnTo>
                    <a:pt x="934233" y="0"/>
                  </a:lnTo>
                  <a:cubicBezTo>
                    <a:pt x="939528" y="0"/>
                    <a:pt x="944606" y="2103"/>
                    <a:pt x="948351" y="5848"/>
                  </a:cubicBezTo>
                  <a:cubicBezTo>
                    <a:pt x="952095" y="9592"/>
                    <a:pt x="954198" y="14670"/>
                    <a:pt x="954198" y="19965"/>
                  </a:cubicBezTo>
                  <a:lnTo>
                    <a:pt x="954198" y="842414"/>
                  </a:lnTo>
                  <a:cubicBezTo>
                    <a:pt x="954198" y="847709"/>
                    <a:pt x="952095" y="852787"/>
                    <a:pt x="948351" y="856532"/>
                  </a:cubicBezTo>
                  <a:cubicBezTo>
                    <a:pt x="944606" y="860276"/>
                    <a:pt x="939528" y="862379"/>
                    <a:pt x="934233" y="862379"/>
                  </a:cubicBezTo>
                  <a:lnTo>
                    <a:pt x="19965" y="862379"/>
                  </a:lnTo>
                  <a:cubicBezTo>
                    <a:pt x="14670" y="862379"/>
                    <a:pt x="9592" y="860276"/>
                    <a:pt x="5848" y="856532"/>
                  </a:cubicBezTo>
                  <a:cubicBezTo>
                    <a:pt x="2103" y="852787"/>
                    <a:pt x="0" y="847709"/>
                    <a:pt x="0" y="842414"/>
                  </a:cubicBezTo>
                  <a:lnTo>
                    <a:pt x="0" y="19965"/>
                  </a:lnTo>
                  <a:cubicBezTo>
                    <a:pt x="0" y="14670"/>
                    <a:pt x="2103" y="9592"/>
                    <a:pt x="5848" y="5848"/>
                  </a:cubicBezTo>
                  <a:cubicBezTo>
                    <a:pt x="9592" y="2103"/>
                    <a:pt x="14670" y="0"/>
                    <a:pt x="19965" y="0"/>
                  </a:cubicBezTo>
                  <a:close/>
                </a:path>
              </a:pathLst>
            </a:custGeom>
            <a:blipFill>
              <a:blip r:embed="rId7"/>
              <a:stretch>
                <a:fillRect t="-16874" b="-16874"/>
              </a:stretch>
            </a:blip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37" t="-19492" b="-746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8100163" y="3368937"/>
            <a:ext cx="2461536" cy="2050992"/>
          </a:xfrm>
          <a:custGeom>
            <a:avLst/>
            <a:gdLst/>
            <a:ahLst/>
            <a:cxnLst/>
            <a:rect l="l" t="t" r="r" b="b"/>
            <a:pathLst>
              <a:path w="2461536" h="2050992">
                <a:moveTo>
                  <a:pt x="2461536" y="0"/>
                </a:moveTo>
                <a:lnTo>
                  <a:pt x="0" y="0"/>
                </a:lnTo>
                <a:lnTo>
                  <a:pt x="0" y="2050992"/>
                </a:lnTo>
                <a:lnTo>
                  <a:pt x="2461536" y="2050992"/>
                </a:lnTo>
                <a:lnTo>
                  <a:pt x="24615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0338906" y="2247900"/>
            <a:ext cx="7789769" cy="6858000"/>
            <a:chOff x="0" y="0"/>
            <a:chExt cx="1958753" cy="1210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29387" y="5419929"/>
            <a:ext cx="7479668" cy="3838371"/>
            <a:chOff x="0" y="0"/>
            <a:chExt cx="1013940" cy="5203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3940" cy="520328"/>
            </a:xfrm>
            <a:custGeom>
              <a:avLst/>
              <a:gdLst/>
              <a:ahLst/>
              <a:cxnLst/>
              <a:rect l="l" t="t" r="r" b="b"/>
              <a:pathLst>
                <a:path w="1013940" h="520328">
                  <a:moveTo>
                    <a:pt x="20701" y="0"/>
                  </a:moveTo>
                  <a:lnTo>
                    <a:pt x="993239" y="0"/>
                  </a:lnTo>
                  <a:cubicBezTo>
                    <a:pt x="998729" y="0"/>
                    <a:pt x="1003995" y="2181"/>
                    <a:pt x="1007877" y="6063"/>
                  </a:cubicBezTo>
                  <a:cubicBezTo>
                    <a:pt x="1011759" y="9945"/>
                    <a:pt x="1013940" y="15211"/>
                    <a:pt x="1013940" y="20701"/>
                  </a:cubicBezTo>
                  <a:lnTo>
                    <a:pt x="1013940" y="499626"/>
                  </a:lnTo>
                  <a:cubicBezTo>
                    <a:pt x="1013940" y="505117"/>
                    <a:pt x="1011759" y="510382"/>
                    <a:pt x="1007877" y="514264"/>
                  </a:cubicBezTo>
                  <a:cubicBezTo>
                    <a:pt x="1003995" y="518147"/>
                    <a:pt x="998729" y="520328"/>
                    <a:pt x="993239" y="520328"/>
                  </a:cubicBezTo>
                  <a:lnTo>
                    <a:pt x="20701" y="520328"/>
                  </a:lnTo>
                  <a:cubicBezTo>
                    <a:pt x="15211" y="520328"/>
                    <a:pt x="9945" y="518147"/>
                    <a:pt x="6063" y="514264"/>
                  </a:cubicBezTo>
                  <a:cubicBezTo>
                    <a:pt x="2181" y="510382"/>
                    <a:pt x="0" y="505117"/>
                    <a:pt x="0" y="499626"/>
                  </a:cubicBezTo>
                  <a:lnTo>
                    <a:pt x="0" y="20701"/>
                  </a:lnTo>
                  <a:cubicBezTo>
                    <a:pt x="0" y="15211"/>
                    <a:pt x="2181" y="9945"/>
                    <a:pt x="6063" y="6063"/>
                  </a:cubicBezTo>
                  <a:cubicBezTo>
                    <a:pt x="9945" y="2181"/>
                    <a:pt x="15211" y="0"/>
                    <a:pt x="20701" y="0"/>
                  </a:cubicBezTo>
                  <a:close/>
                </a:path>
              </a:pathLst>
            </a:custGeom>
            <a:blipFill>
              <a:blip r:embed="rId4"/>
              <a:stretch>
                <a:fillRect t="-10919" b="-18909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29387" y="2967952"/>
            <a:ext cx="5812915" cy="220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ABOUT  NLA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71760" y="3238500"/>
            <a:ext cx="6924062" cy="553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This project presents an analysis of a customer loyalty campaign conducted by Northern Lights Air (NLA), a Canadian airline. </a:t>
            </a: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The campaign, which ran from February to April 2018, was designed to increase loyalty program enrollment and attract new customers.</a:t>
            </a:r>
          </a:p>
          <a:p>
            <a:pPr algn="l">
              <a:lnSpc>
                <a:spcPts val="2683"/>
              </a:lnSpc>
            </a:pPr>
            <a:endParaRPr lang="en-US" sz="28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In this project, our objective was to assess the campaign’s impact on the company from several perspectives, including customer behavior, engagement, and overall business performance.</a:t>
            </a:r>
          </a:p>
          <a:p>
            <a:pPr algn="l">
              <a:lnSpc>
                <a:spcPts val="2683"/>
              </a:lnSpc>
            </a:pPr>
            <a:endParaRPr lang="en-US" sz="2199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88E6-3A6F-3DBD-96A6-C4ACC064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EF66D4-9CCE-4E73-8652-BF947E04884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37" t="-19492" b="-746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F76470-AB25-8900-51C9-8FEC1F8A78B8}"/>
              </a:ext>
            </a:extLst>
          </p:cNvPr>
          <p:cNvSpPr/>
          <p:nvPr/>
        </p:nvSpPr>
        <p:spPr>
          <a:xfrm flipH="1">
            <a:off x="8100163" y="3368937"/>
            <a:ext cx="2461536" cy="2050992"/>
          </a:xfrm>
          <a:custGeom>
            <a:avLst/>
            <a:gdLst/>
            <a:ahLst/>
            <a:cxnLst/>
            <a:rect l="l" t="t" r="r" b="b"/>
            <a:pathLst>
              <a:path w="2461536" h="2050992">
                <a:moveTo>
                  <a:pt x="2461536" y="0"/>
                </a:moveTo>
                <a:lnTo>
                  <a:pt x="0" y="0"/>
                </a:lnTo>
                <a:lnTo>
                  <a:pt x="0" y="2050992"/>
                </a:lnTo>
                <a:lnTo>
                  <a:pt x="2461536" y="2050992"/>
                </a:lnTo>
                <a:lnTo>
                  <a:pt x="24615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8E487B-7D56-8A5B-0C81-B1BD63DE2305}"/>
              </a:ext>
            </a:extLst>
          </p:cNvPr>
          <p:cNvGrpSpPr/>
          <p:nvPr/>
        </p:nvGrpSpPr>
        <p:grpSpPr>
          <a:xfrm>
            <a:off x="877646" y="2212645"/>
            <a:ext cx="14571644" cy="5917960"/>
            <a:chOff x="-2048000" y="-57150"/>
            <a:chExt cx="4006753" cy="126786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FB9FE10-1F0A-C149-AB3F-CEDA429F54B6}"/>
                </a:ext>
              </a:extLst>
            </p:cNvPr>
            <p:cNvSpPr/>
            <p:nvPr/>
          </p:nvSpPr>
          <p:spPr>
            <a:xfrm>
              <a:off x="-2048000" y="-56538"/>
              <a:ext cx="1529919" cy="438164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4248966-CF7F-D7FD-1C56-0B467EF254CF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BE14B81-09CE-23DB-FCAC-D7134029F553}"/>
              </a:ext>
            </a:extLst>
          </p:cNvPr>
          <p:cNvSpPr txBox="1"/>
          <p:nvPr/>
        </p:nvSpPr>
        <p:spPr>
          <a:xfrm>
            <a:off x="4048704" y="990076"/>
            <a:ext cx="13966259" cy="1104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6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COMPANY PROFILE 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391E620-E882-D04E-10E3-E3D365C9AFF7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E135666-6169-DA64-A924-E35627DF6587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99DF14A-F7D9-6238-EF4C-C761B33A8A73}"/>
              </a:ext>
            </a:extLst>
          </p:cNvPr>
          <p:cNvSpPr txBox="1"/>
          <p:nvPr/>
        </p:nvSpPr>
        <p:spPr>
          <a:xfrm>
            <a:off x="1164744" y="2582253"/>
            <a:ext cx="5648276" cy="1390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3000" b="1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Identity</a:t>
            </a: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A growing Canadian airline operating both regional and international routes</a:t>
            </a:r>
            <a:endParaRPr lang="en-US" sz="2199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4CC07B23-97B5-FA30-4B91-4C6D8A7A61BB}"/>
              </a:ext>
            </a:extLst>
          </p:cNvPr>
          <p:cNvGrpSpPr/>
          <p:nvPr/>
        </p:nvGrpSpPr>
        <p:grpSpPr>
          <a:xfrm>
            <a:off x="8839200" y="1649764"/>
            <a:ext cx="9102255" cy="7075136"/>
            <a:chOff x="0" y="-57150"/>
            <a:chExt cx="2057170" cy="126786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4171DFF-6EBD-35BD-C15F-C5F1DEF0BB2B}"/>
                </a:ext>
              </a:extLst>
            </p:cNvPr>
            <p:cNvSpPr/>
            <p:nvPr/>
          </p:nvSpPr>
          <p:spPr>
            <a:xfrm>
              <a:off x="524438" y="44745"/>
              <a:ext cx="1532732" cy="498154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B4F182C6-AB1E-03BF-8FB6-A6E28D64F25B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589E86AD-06BF-0EFF-AFDE-0B9F18EA3AE3}"/>
              </a:ext>
            </a:extLst>
          </p:cNvPr>
          <p:cNvGrpSpPr/>
          <p:nvPr/>
        </p:nvGrpSpPr>
        <p:grpSpPr>
          <a:xfrm>
            <a:off x="-1398827" y="5320199"/>
            <a:ext cx="8997410" cy="6869157"/>
            <a:chOff x="0" y="-57150"/>
            <a:chExt cx="2057169" cy="1267862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1FF5BE3-D4EA-15F1-A32C-2557D301094C}"/>
                </a:ext>
              </a:extLst>
            </p:cNvPr>
            <p:cNvSpPr/>
            <p:nvPr/>
          </p:nvSpPr>
          <p:spPr>
            <a:xfrm>
              <a:off x="527250" y="44745"/>
              <a:ext cx="1529919" cy="438164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0EB82B3B-8642-244A-140F-EBEBB3AEB8DA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93A9CE4D-7180-5E99-A20D-E6D2EC94F48A}"/>
              </a:ext>
            </a:extLst>
          </p:cNvPr>
          <p:cNvGrpSpPr/>
          <p:nvPr/>
        </p:nvGrpSpPr>
        <p:grpSpPr>
          <a:xfrm>
            <a:off x="8680875" y="5676900"/>
            <a:ext cx="9334088" cy="8460908"/>
            <a:chOff x="0" y="-57150"/>
            <a:chExt cx="2057169" cy="1267862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B8A8228C-29C4-2EB2-0C22-5D18D1785C5C}"/>
                </a:ext>
              </a:extLst>
            </p:cNvPr>
            <p:cNvSpPr/>
            <p:nvPr/>
          </p:nvSpPr>
          <p:spPr>
            <a:xfrm>
              <a:off x="527250" y="44745"/>
              <a:ext cx="1529919" cy="438164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22202C2B-5A5A-5EA8-17BA-C80CEC68069A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10">
            <a:extLst>
              <a:ext uri="{FF2B5EF4-FFF2-40B4-BE49-F238E27FC236}">
                <a16:creationId xmlns:a16="http://schemas.microsoft.com/office/drawing/2014/main" id="{0C81F865-2474-FDFE-8AE6-06A03D07BA2C}"/>
              </a:ext>
            </a:extLst>
          </p:cNvPr>
          <p:cNvSpPr txBox="1"/>
          <p:nvPr/>
        </p:nvSpPr>
        <p:spPr>
          <a:xfrm>
            <a:off x="11571878" y="2559851"/>
            <a:ext cx="6102737" cy="2437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3000" b="1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Core Business Model</a:t>
            </a:r>
          </a:p>
          <a:p>
            <a:pPr>
              <a:lnSpc>
                <a:spcPts val="2683"/>
              </a:lnSpc>
            </a:pPr>
            <a:r>
              <a:rPr lang="he-IL" altLang="he-IL" sz="2800" dirty="0">
                <a:solidFill>
                  <a:schemeClr val="bg1"/>
                </a:solidFill>
                <a:latin typeface="Poppins ExtraLight" panose="020B0502040204020203" pitchFamily="2" charset="0"/>
              </a:rPr>
              <a:t>The Loyalty Program is the main revenue driver. </a:t>
            </a:r>
            <a:br>
              <a:rPr lang="en-US" altLang="he-IL" sz="2800" dirty="0">
                <a:solidFill>
                  <a:schemeClr val="bg1"/>
                </a:solidFill>
                <a:latin typeface="Poppins ExtraLight" panose="020B0502040204020203" pitchFamily="2" charset="0"/>
              </a:rPr>
            </a:br>
            <a:r>
              <a:rPr lang="he-IL" altLang="he-IL" sz="2800" dirty="0">
                <a:solidFill>
                  <a:schemeClr val="bg1"/>
                </a:solidFill>
                <a:latin typeface="Poppins ExtraLight" panose="020B0502040204020203" pitchFamily="2" charset="0"/>
              </a:rPr>
              <a:t>The strategic goal is to shift from occasional flyers to high Customer Lifetime Value (CLV) customer</a:t>
            </a:r>
            <a:r>
              <a:rPr lang="en-US" altLang="he-IL" sz="2800" dirty="0">
                <a:solidFill>
                  <a:schemeClr val="bg1"/>
                </a:solidFill>
                <a:latin typeface="Poppins ExtraLight" panose="020B0502040204020203" pitchFamily="2" charset="0"/>
              </a:rPr>
              <a:t>s.</a:t>
            </a:r>
            <a:r>
              <a:rPr lang="he-IL" altLang="he-IL" sz="2800" dirty="0">
                <a:solidFill>
                  <a:schemeClr val="bg1"/>
                </a:solidFill>
                <a:latin typeface="Poppins ExtraLight" panose="020B0502040204020203" pitchFamily="2" charset="0"/>
              </a:rPr>
              <a:t> </a:t>
            </a: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</a:t>
            </a:r>
            <a:endParaRPr lang="en-US" sz="2199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96C702F4-4EDD-A8A0-97B5-80D42F8E7B7C}"/>
              </a:ext>
            </a:extLst>
          </p:cNvPr>
          <p:cNvSpPr txBox="1"/>
          <p:nvPr/>
        </p:nvSpPr>
        <p:spPr>
          <a:xfrm>
            <a:off x="1208509" y="6437446"/>
            <a:ext cx="6552169" cy="2091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3000" b="1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Geographic Presence</a:t>
            </a:r>
            <a:endParaRPr lang="en-US" altLang="he-IL" sz="2800" dirty="0">
              <a:solidFill>
                <a:schemeClr val="bg1"/>
              </a:solidFill>
              <a:latin typeface="Poppins ExtraLight" panose="020B0502040204020203" pitchFamily="2" charset="0"/>
            </a:endParaRPr>
          </a:p>
          <a:p>
            <a:pPr algn="l">
              <a:lnSpc>
                <a:spcPts val="2683"/>
              </a:lnSpc>
            </a:pPr>
            <a:r>
              <a:rPr lang="en-US" altLang="he-IL" sz="2800" dirty="0">
                <a:solidFill>
                  <a:schemeClr val="bg1"/>
                </a:solidFill>
                <a:latin typeface="Poppins ExtraLight" panose="020B0502040204020203" pitchFamily="2" charset="0"/>
              </a:rPr>
              <a:t>Strong operations across Canadian provinces, with key focus on major regions such as Ontario. </a:t>
            </a:r>
          </a:p>
          <a:p>
            <a:pPr algn="l">
              <a:lnSpc>
                <a:spcPts val="2683"/>
              </a:lnSpc>
            </a:pPr>
            <a:endParaRPr lang="en-US" altLang="he-IL" sz="2800" dirty="0">
              <a:solidFill>
                <a:schemeClr val="bg1"/>
              </a:solidFill>
              <a:latin typeface="Poppins ExtraLight" panose="020B0502040204020203" pitchFamily="2" charset="0"/>
            </a:endParaRP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</a:t>
            </a:r>
            <a:endParaRPr lang="en-US" sz="2199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46442388-9E0F-9C32-A444-8C58BB9B6ED0}"/>
              </a:ext>
            </a:extLst>
          </p:cNvPr>
          <p:cNvSpPr txBox="1"/>
          <p:nvPr/>
        </p:nvSpPr>
        <p:spPr>
          <a:xfrm>
            <a:off x="11403257" y="6620916"/>
            <a:ext cx="6102737" cy="2783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3000" b="1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Target Audience</a:t>
            </a:r>
          </a:p>
          <a:p>
            <a:pPr algn="l">
              <a:lnSpc>
                <a:spcPts val="2683"/>
              </a:lnSpc>
            </a:pPr>
            <a:r>
              <a:rPr lang="en-US" sz="2800" b="1" dirty="0">
                <a:solidFill>
                  <a:srgbClr val="FFFFFF"/>
                </a:solidFill>
                <a:latin typeface="Poppins ExtraLight" panose="00000300000000000000" pitchFamily="2" charset="0"/>
                <a:ea typeface="Poppins Extra-Light"/>
                <a:cs typeface="Poppins ExtraLight" panose="00000300000000000000" pitchFamily="2" charset="0"/>
                <a:sym typeface="Poppins Extra-Light"/>
              </a:rPr>
              <a:t>A diverse customer base across demographics (education, marital status, etc.)</a:t>
            </a:r>
          </a:p>
          <a:p>
            <a:pPr algn="l">
              <a:lnSpc>
                <a:spcPts val="2683"/>
              </a:lnSpc>
            </a:pPr>
            <a:r>
              <a:rPr lang="en-US" sz="2800" b="1" dirty="0">
                <a:solidFill>
                  <a:srgbClr val="FFFFFF"/>
                </a:solidFill>
                <a:latin typeface="Poppins ExtraLight" panose="00000300000000000000" pitchFamily="2" charset="0"/>
                <a:ea typeface="Poppins Extra-Light"/>
                <a:cs typeface="Poppins ExtraLight" panose="00000300000000000000" pitchFamily="2" charset="0"/>
                <a:sym typeface="Poppins Extra-Light"/>
              </a:rPr>
              <a:t>The key marketing challenge is identifying high-ROI customer segments.</a:t>
            </a:r>
            <a:endParaRPr lang="he-IL" altLang="he-IL" sz="2800" dirty="0">
              <a:solidFill>
                <a:schemeClr val="bg1"/>
              </a:solidFill>
              <a:latin typeface="Poppins ExtraLight" panose="00000300000000000000" pitchFamily="2" charset="0"/>
            </a:endParaRPr>
          </a:p>
          <a:p>
            <a:pPr algn="l">
              <a:lnSpc>
                <a:spcPts val="2683"/>
              </a:lnSpc>
            </a:pPr>
            <a:r>
              <a:rPr lang="en-US" sz="28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</a:t>
            </a:r>
            <a:endParaRPr lang="en-US" sz="2199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</p:spTree>
    <p:extLst>
      <p:ext uri="{BB962C8B-B14F-4D97-AF65-F5344CB8AC3E}">
        <p14:creationId xmlns:p14="http://schemas.microsoft.com/office/powerpoint/2010/main" val="185824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664332" y="5143500"/>
            <a:ext cx="8624724" cy="4114800"/>
            <a:chOff x="0" y="0"/>
            <a:chExt cx="2271532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1532" cy="1083733"/>
            </a:xfrm>
            <a:custGeom>
              <a:avLst/>
              <a:gdLst/>
              <a:ahLst/>
              <a:cxnLst/>
              <a:rect l="l" t="t" r="r" b="b"/>
              <a:pathLst>
                <a:path w="2271532" h="1083733">
                  <a:moveTo>
                    <a:pt x="23339" y="0"/>
                  </a:moveTo>
                  <a:lnTo>
                    <a:pt x="2248193" y="0"/>
                  </a:lnTo>
                  <a:cubicBezTo>
                    <a:pt x="2254383" y="0"/>
                    <a:pt x="2260319" y="2459"/>
                    <a:pt x="2264696" y="6836"/>
                  </a:cubicBezTo>
                  <a:cubicBezTo>
                    <a:pt x="2269073" y="11213"/>
                    <a:pt x="2271532" y="17149"/>
                    <a:pt x="2271532" y="23339"/>
                  </a:cubicBezTo>
                  <a:lnTo>
                    <a:pt x="2271532" y="1060395"/>
                  </a:lnTo>
                  <a:cubicBezTo>
                    <a:pt x="2271532" y="1073284"/>
                    <a:pt x="2261083" y="1083733"/>
                    <a:pt x="2248193" y="1083733"/>
                  </a:cubicBezTo>
                  <a:lnTo>
                    <a:pt x="23339" y="1083733"/>
                  </a:lnTo>
                  <a:cubicBezTo>
                    <a:pt x="10449" y="1083733"/>
                    <a:pt x="0" y="1073284"/>
                    <a:pt x="0" y="1060395"/>
                  </a:cubicBezTo>
                  <a:lnTo>
                    <a:pt x="0" y="23339"/>
                  </a:lnTo>
                  <a:cubicBezTo>
                    <a:pt x="0" y="10449"/>
                    <a:pt x="10449" y="0"/>
                    <a:pt x="23339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71532" cy="1140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85463" y="2172236"/>
            <a:ext cx="13667070" cy="190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81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GROWTH &amp; QUALITY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2460" y="5278320"/>
            <a:ext cx="8268468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The 2018 campaign increased customer activity and generated high-quality loyalty members and their contribution to the Airline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440"/>
              </a:lnSpc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 validate this, we analyzed:</a:t>
            </a: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Campaign Impact on Activity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Customer Engagement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Customer Retention</a:t>
            </a:r>
          </a:p>
          <a:p>
            <a:pPr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Customer Value (CLV)</a:t>
            </a: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909661" y="6740587"/>
            <a:ext cx="6515814" cy="2363756"/>
            <a:chOff x="0" y="0"/>
            <a:chExt cx="1716099" cy="6225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16099" cy="622553"/>
            </a:xfrm>
            <a:custGeom>
              <a:avLst/>
              <a:gdLst/>
              <a:ahLst/>
              <a:cxnLst/>
              <a:rect l="l" t="t" r="r" b="b"/>
              <a:pathLst>
                <a:path w="1716099" h="622553">
                  <a:moveTo>
                    <a:pt x="30893" y="0"/>
                  </a:moveTo>
                  <a:lnTo>
                    <a:pt x="1685207" y="0"/>
                  </a:lnTo>
                  <a:cubicBezTo>
                    <a:pt x="1693400" y="0"/>
                    <a:pt x="1701257" y="3255"/>
                    <a:pt x="1707051" y="9048"/>
                  </a:cubicBezTo>
                  <a:cubicBezTo>
                    <a:pt x="1712844" y="14842"/>
                    <a:pt x="1716099" y="22699"/>
                    <a:pt x="1716099" y="30893"/>
                  </a:cubicBezTo>
                  <a:lnTo>
                    <a:pt x="1716099" y="591661"/>
                  </a:lnTo>
                  <a:cubicBezTo>
                    <a:pt x="1716099" y="599854"/>
                    <a:pt x="1712844" y="607711"/>
                    <a:pt x="1707051" y="613505"/>
                  </a:cubicBezTo>
                  <a:cubicBezTo>
                    <a:pt x="1701257" y="619298"/>
                    <a:pt x="1693400" y="622553"/>
                    <a:pt x="1685207" y="622553"/>
                  </a:cubicBezTo>
                  <a:lnTo>
                    <a:pt x="30893" y="622553"/>
                  </a:lnTo>
                  <a:cubicBezTo>
                    <a:pt x="13831" y="622553"/>
                    <a:pt x="0" y="608722"/>
                    <a:pt x="0" y="591661"/>
                  </a:cubicBezTo>
                  <a:lnTo>
                    <a:pt x="0" y="30893"/>
                  </a:lnTo>
                  <a:cubicBezTo>
                    <a:pt x="0" y="22699"/>
                    <a:pt x="3255" y="14842"/>
                    <a:pt x="9048" y="9048"/>
                  </a:cubicBezTo>
                  <a:cubicBezTo>
                    <a:pt x="14842" y="3255"/>
                    <a:pt x="22699" y="0"/>
                    <a:pt x="30893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16099" cy="67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6136905" y="7827010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1121595" y="7192621"/>
            <a:ext cx="6333866" cy="1242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Our Goal:</a:t>
            </a:r>
          </a:p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To determine not only if the campaign increased signups, but whether it drove meaningful, sustainable business impact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TextBox 14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664332" y="5982764"/>
            <a:ext cx="8624724" cy="3275536"/>
            <a:chOff x="0" y="0"/>
            <a:chExt cx="2271532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1532" cy="1083733"/>
            </a:xfrm>
            <a:custGeom>
              <a:avLst/>
              <a:gdLst/>
              <a:ahLst/>
              <a:cxnLst/>
              <a:rect l="l" t="t" r="r" b="b"/>
              <a:pathLst>
                <a:path w="2271532" h="1083733">
                  <a:moveTo>
                    <a:pt x="23339" y="0"/>
                  </a:moveTo>
                  <a:lnTo>
                    <a:pt x="2248193" y="0"/>
                  </a:lnTo>
                  <a:cubicBezTo>
                    <a:pt x="2254383" y="0"/>
                    <a:pt x="2260319" y="2459"/>
                    <a:pt x="2264696" y="6836"/>
                  </a:cubicBezTo>
                  <a:cubicBezTo>
                    <a:pt x="2269073" y="11213"/>
                    <a:pt x="2271532" y="17149"/>
                    <a:pt x="2271532" y="23339"/>
                  </a:cubicBezTo>
                  <a:lnTo>
                    <a:pt x="2271532" y="1060395"/>
                  </a:lnTo>
                  <a:cubicBezTo>
                    <a:pt x="2271532" y="1073284"/>
                    <a:pt x="2261083" y="1083733"/>
                    <a:pt x="2248193" y="1083733"/>
                  </a:cubicBezTo>
                  <a:lnTo>
                    <a:pt x="23339" y="1083733"/>
                  </a:lnTo>
                  <a:cubicBezTo>
                    <a:pt x="10449" y="1083733"/>
                    <a:pt x="0" y="1073284"/>
                    <a:pt x="0" y="1060395"/>
                  </a:cubicBezTo>
                  <a:lnTo>
                    <a:pt x="0" y="23339"/>
                  </a:lnTo>
                  <a:cubicBezTo>
                    <a:pt x="0" y="10449"/>
                    <a:pt x="10449" y="0"/>
                    <a:pt x="23339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pPr marL="0" algn="r" defTabSz="914400" rtl="1" eaLnBrk="1" latinLnBrk="0" hangingPunct="1"/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71532" cy="1140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algn="ctr" defTabSz="914400" rtl="1" eaLnBrk="1" latinLnBrk="0" hangingPunct="1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09661" y="6740586"/>
            <a:ext cx="6720180" cy="2517713"/>
            <a:chOff x="0" y="0"/>
            <a:chExt cx="1716099" cy="622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6099" cy="622553"/>
            </a:xfrm>
            <a:custGeom>
              <a:avLst/>
              <a:gdLst/>
              <a:ahLst/>
              <a:cxnLst/>
              <a:rect l="l" t="t" r="r" b="b"/>
              <a:pathLst>
                <a:path w="1716099" h="622553">
                  <a:moveTo>
                    <a:pt x="30893" y="0"/>
                  </a:moveTo>
                  <a:lnTo>
                    <a:pt x="1685207" y="0"/>
                  </a:lnTo>
                  <a:cubicBezTo>
                    <a:pt x="1693400" y="0"/>
                    <a:pt x="1701257" y="3255"/>
                    <a:pt x="1707051" y="9048"/>
                  </a:cubicBezTo>
                  <a:cubicBezTo>
                    <a:pt x="1712844" y="14842"/>
                    <a:pt x="1716099" y="22699"/>
                    <a:pt x="1716099" y="30893"/>
                  </a:cubicBezTo>
                  <a:lnTo>
                    <a:pt x="1716099" y="591661"/>
                  </a:lnTo>
                  <a:cubicBezTo>
                    <a:pt x="1716099" y="599854"/>
                    <a:pt x="1712844" y="607711"/>
                    <a:pt x="1707051" y="613505"/>
                  </a:cubicBezTo>
                  <a:cubicBezTo>
                    <a:pt x="1701257" y="619298"/>
                    <a:pt x="1693400" y="622553"/>
                    <a:pt x="1685207" y="622553"/>
                  </a:cubicBezTo>
                  <a:lnTo>
                    <a:pt x="30893" y="622553"/>
                  </a:lnTo>
                  <a:cubicBezTo>
                    <a:pt x="13831" y="622553"/>
                    <a:pt x="0" y="608722"/>
                    <a:pt x="0" y="591661"/>
                  </a:cubicBezTo>
                  <a:lnTo>
                    <a:pt x="0" y="30893"/>
                  </a:lnTo>
                  <a:cubicBezTo>
                    <a:pt x="0" y="22699"/>
                    <a:pt x="3255" y="14842"/>
                    <a:pt x="9048" y="9048"/>
                  </a:cubicBezTo>
                  <a:cubicBezTo>
                    <a:pt x="14842" y="3255"/>
                    <a:pt x="22699" y="0"/>
                    <a:pt x="30893" y="0"/>
                  </a:cubicBezTo>
                  <a:close/>
                </a:path>
              </a:pathLst>
            </a:custGeom>
            <a:solidFill>
              <a:srgbClr val="001737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16099" cy="67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4332" y="2217421"/>
            <a:ext cx="14380868" cy="11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SUMMER TRAVEL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3386" y="6548264"/>
            <a:ext cx="826846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Number of Flights Booked During Summer </a:t>
            </a:r>
          </a:p>
          <a:p>
            <a:pPr marL="215901" lvl="1" algn="l">
              <a:lnSpc>
                <a:spcPts val="2440"/>
              </a:lnSpc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 (Post-Campaign)</a:t>
            </a:r>
            <a:endParaRPr lang="he-IL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215901" lvl="1" algn="l">
              <a:lnSpc>
                <a:spcPts val="2440"/>
              </a:lnSpc>
            </a:pPr>
            <a:endParaRPr lang="en-US" sz="24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  <a:p>
            <a:pPr marL="431801" lvl="1" indent="-215900" algn="l">
              <a:lnSpc>
                <a:spcPts val="244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Growth vs. Pre-Campaign Summer / Previous Period</a:t>
            </a:r>
          </a:p>
          <a:p>
            <a:pPr marL="215901" lvl="1" algn="l">
              <a:lnSpc>
                <a:spcPts val="2440"/>
              </a:lnSpc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  % of New Members Who Booked Summer Flights</a:t>
            </a:r>
          </a:p>
          <a:p>
            <a:pPr algn="l">
              <a:lnSpc>
                <a:spcPts val="2440"/>
              </a:lnSpc>
            </a:pPr>
            <a:endParaRPr lang="en-US" sz="2000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6136905" y="7827010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TextBox 14"/>
          <p:cNvSpPr txBox="1"/>
          <p:nvPr/>
        </p:nvSpPr>
        <p:spPr>
          <a:xfrm>
            <a:off x="11091609" y="6896100"/>
            <a:ext cx="6333866" cy="6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Our Goal:</a:t>
            </a:r>
          </a:p>
          <a:p>
            <a:pPr algn="l">
              <a:lnSpc>
                <a:spcPts val="2440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Poppins Extra-Light"/>
              <a:ea typeface="Poppins Extra-Light"/>
              <a:cs typeface="Poppins Extra-Light"/>
              <a:sym typeface="Poppins Extra-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91609" y="7329184"/>
            <a:ext cx="6333866" cy="15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 Extra-Light"/>
                <a:ea typeface="Poppins Extra-Light"/>
                <a:cs typeface="Poppins Extra-Light"/>
                <a:sym typeface="Poppins Extra-Light"/>
              </a:rPr>
              <a:t>Evaluate the impact of the 2018 campaign on summer flight activity and customer engagement, focusing on both booking volume and the behavior of newly acquired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664332" y="1281641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9144000" y="1818541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3685391" y="2551018"/>
            <a:ext cx="4226362" cy="6334477"/>
            <a:chOff x="0" y="0"/>
            <a:chExt cx="812800" cy="121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78768" y="0"/>
                  </a:moveTo>
                  <a:lnTo>
                    <a:pt x="734032" y="0"/>
                  </a:lnTo>
                  <a:cubicBezTo>
                    <a:pt x="777534" y="0"/>
                    <a:pt x="812800" y="35266"/>
                    <a:pt x="812800" y="78768"/>
                  </a:cubicBezTo>
                  <a:lnTo>
                    <a:pt x="812800" y="1139457"/>
                  </a:lnTo>
                  <a:cubicBezTo>
                    <a:pt x="812800" y="1160348"/>
                    <a:pt x="804501" y="1180383"/>
                    <a:pt x="789729" y="1195155"/>
                  </a:cubicBezTo>
                  <a:cubicBezTo>
                    <a:pt x="774957" y="1209927"/>
                    <a:pt x="754922" y="1218226"/>
                    <a:pt x="734032" y="1218226"/>
                  </a:cubicBezTo>
                  <a:lnTo>
                    <a:pt x="78768" y="1218226"/>
                  </a:lnTo>
                  <a:cubicBezTo>
                    <a:pt x="35266" y="1218226"/>
                    <a:pt x="0" y="1182960"/>
                    <a:pt x="0" y="1139457"/>
                  </a:cubicBezTo>
                  <a:lnTo>
                    <a:pt x="0" y="78768"/>
                  </a:lnTo>
                  <a:cubicBezTo>
                    <a:pt x="0" y="35266"/>
                    <a:pt x="35266" y="0"/>
                    <a:pt x="78768" y="0"/>
                  </a:cubicBezTo>
                  <a:close/>
                </a:path>
              </a:pathLst>
            </a:custGeom>
            <a:blipFill>
              <a:blip r:embed="rId5"/>
              <a:stretch>
                <a:fillRect l="-24940" r="-2494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99964" y="1333874"/>
            <a:ext cx="253940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NLA Airlines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223" y="4152440"/>
            <a:ext cx="11874258" cy="21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GROWTH &amp; QUALITY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2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1836981" y="8178003"/>
            <a:ext cx="14614039" cy="1981352"/>
            <a:chOff x="0" y="0"/>
            <a:chExt cx="3743932" cy="507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3932" cy="507597"/>
            </a:xfrm>
            <a:custGeom>
              <a:avLst/>
              <a:gdLst/>
              <a:ahLst/>
              <a:cxnLst/>
              <a:rect l="l" t="t" r="r" b="b"/>
              <a:pathLst>
                <a:path w="3743932" h="507597">
                  <a:moveTo>
                    <a:pt x="13774" y="0"/>
                  </a:moveTo>
                  <a:lnTo>
                    <a:pt x="3730158" y="0"/>
                  </a:lnTo>
                  <a:cubicBezTo>
                    <a:pt x="3733811" y="0"/>
                    <a:pt x="3737315" y="1451"/>
                    <a:pt x="3739898" y="4034"/>
                  </a:cubicBezTo>
                  <a:cubicBezTo>
                    <a:pt x="3742481" y="6617"/>
                    <a:pt x="3743932" y="10121"/>
                    <a:pt x="3743932" y="13774"/>
                  </a:cubicBezTo>
                  <a:lnTo>
                    <a:pt x="3743932" y="493823"/>
                  </a:lnTo>
                  <a:cubicBezTo>
                    <a:pt x="3743932" y="501430"/>
                    <a:pt x="3737765" y="507597"/>
                    <a:pt x="3730158" y="507597"/>
                  </a:cubicBezTo>
                  <a:lnTo>
                    <a:pt x="13774" y="507597"/>
                  </a:lnTo>
                  <a:cubicBezTo>
                    <a:pt x="6167" y="507597"/>
                    <a:pt x="0" y="501430"/>
                    <a:pt x="0" y="493823"/>
                  </a:cubicBezTo>
                  <a:lnTo>
                    <a:pt x="0" y="13774"/>
                  </a:lnTo>
                  <a:cubicBezTo>
                    <a:pt x="0" y="6167"/>
                    <a:pt x="6167" y="0"/>
                    <a:pt x="1377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743932" cy="56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5492" y="920749"/>
            <a:ext cx="7710339" cy="68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 Impact on Activity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4099" y="1866900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Net Enrollment Feb-Apr 2018 vs 2013-2017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42129" y="1866900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Total Flights 2017 vs 2018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16782" y="8695604"/>
            <a:ext cx="13654436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observe a clear increase in both enrollments and flight activity during the campaign period compared to previous years.</a:t>
            </a:r>
          </a:p>
        </p:txBody>
      </p:sp>
      <p:pic>
        <p:nvPicPr>
          <p:cNvPr id="16" name="Picture 1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7F35879-942D-098E-D172-2E6CF037C4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2613319"/>
            <a:ext cx="8102324" cy="5147885"/>
          </a:xfrm>
          <a:prstGeom prst="rect">
            <a:avLst/>
          </a:prstGeom>
        </p:spPr>
      </p:pic>
      <p:sp>
        <p:nvSpPr>
          <p:cNvPr id="21" name="TextBox 13">
            <a:extLst>
              <a:ext uri="{FF2B5EF4-FFF2-40B4-BE49-F238E27FC236}">
                <a16:creationId xmlns:a16="http://schemas.microsoft.com/office/drawing/2014/main" id="{E40C71C2-6968-1B23-0D2B-35A4CB339AEE}"/>
              </a:ext>
            </a:extLst>
          </p:cNvPr>
          <p:cNvSpPr txBox="1"/>
          <p:nvPr/>
        </p:nvSpPr>
        <p:spPr>
          <a:xfrm>
            <a:off x="1537889" y="2214489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Enrollment - Cancellation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6611600" y="2666353"/>
            <a:ext cx="1568209" cy="753336"/>
          </a:xfrm>
          <a:custGeom>
            <a:avLst/>
            <a:gdLst/>
            <a:ahLst/>
            <a:cxnLst/>
            <a:rect l="l" t="t" r="r" b="b"/>
            <a:pathLst>
              <a:path w="1917827" h="952727">
                <a:moveTo>
                  <a:pt x="0" y="0"/>
                </a:moveTo>
                <a:lnTo>
                  <a:pt x="1917827" y="0"/>
                </a:lnTo>
                <a:lnTo>
                  <a:pt x="1917827" y="952727"/>
                </a:lnTo>
                <a:lnTo>
                  <a:pt x="0" y="952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531991-C9A1-0A12-7300-0EB860610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198" y="2628900"/>
            <a:ext cx="9501633" cy="51478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5F0BDB-67CB-147F-364A-3A962A5B75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245" y="2689400"/>
            <a:ext cx="1725755" cy="8445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8320714" y="8228709"/>
            <a:ext cx="9393520" cy="1673439"/>
            <a:chOff x="0" y="0"/>
            <a:chExt cx="2406501" cy="428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6501" cy="428714"/>
            </a:xfrm>
            <a:custGeom>
              <a:avLst/>
              <a:gdLst/>
              <a:ahLst/>
              <a:cxnLst/>
              <a:rect l="l" t="t" r="r" b="b"/>
              <a:pathLst>
                <a:path w="2406501" h="428714">
                  <a:moveTo>
                    <a:pt x="21429" y="0"/>
                  </a:moveTo>
                  <a:lnTo>
                    <a:pt x="2385072" y="0"/>
                  </a:lnTo>
                  <a:cubicBezTo>
                    <a:pt x="2396907" y="0"/>
                    <a:pt x="2406501" y="9594"/>
                    <a:pt x="2406501" y="21429"/>
                  </a:cubicBezTo>
                  <a:lnTo>
                    <a:pt x="2406501" y="407285"/>
                  </a:lnTo>
                  <a:cubicBezTo>
                    <a:pt x="2406501" y="419120"/>
                    <a:pt x="2396907" y="428714"/>
                    <a:pt x="2385072" y="428714"/>
                  </a:cubicBezTo>
                  <a:lnTo>
                    <a:pt x="21429" y="428714"/>
                  </a:lnTo>
                  <a:cubicBezTo>
                    <a:pt x="9594" y="428714"/>
                    <a:pt x="0" y="419120"/>
                    <a:pt x="0" y="407285"/>
                  </a:cubicBezTo>
                  <a:lnTo>
                    <a:pt x="0" y="21429"/>
                  </a:lnTo>
                  <a:cubicBezTo>
                    <a:pt x="0" y="9594"/>
                    <a:pt x="9594" y="0"/>
                    <a:pt x="21429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06501" cy="485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0344" y="7552434"/>
            <a:ext cx="5655159" cy="2679316"/>
            <a:chOff x="0" y="0"/>
            <a:chExt cx="1448780" cy="6864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8780" cy="686407"/>
            </a:xfrm>
            <a:custGeom>
              <a:avLst/>
              <a:gdLst/>
              <a:ahLst/>
              <a:cxnLst/>
              <a:rect l="l" t="t" r="r" b="b"/>
              <a:pathLst>
                <a:path w="1448780" h="686407">
                  <a:moveTo>
                    <a:pt x="35594" y="0"/>
                  </a:moveTo>
                  <a:lnTo>
                    <a:pt x="1413186" y="0"/>
                  </a:lnTo>
                  <a:cubicBezTo>
                    <a:pt x="1422626" y="0"/>
                    <a:pt x="1431680" y="3750"/>
                    <a:pt x="1438355" y="10425"/>
                  </a:cubicBezTo>
                  <a:cubicBezTo>
                    <a:pt x="1445030" y="17100"/>
                    <a:pt x="1448780" y="26154"/>
                    <a:pt x="1448780" y="35594"/>
                  </a:cubicBezTo>
                  <a:lnTo>
                    <a:pt x="1448780" y="650813"/>
                  </a:lnTo>
                  <a:cubicBezTo>
                    <a:pt x="1448780" y="670471"/>
                    <a:pt x="1432844" y="686407"/>
                    <a:pt x="1413186" y="686407"/>
                  </a:cubicBezTo>
                  <a:lnTo>
                    <a:pt x="35594" y="686407"/>
                  </a:lnTo>
                  <a:cubicBezTo>
                    <a:pt x="15936" y="686407"/>
                    <a:pt x="0" y="670471"/>
                    <a:pt x="0" y="650813"/>
                  </a:cubicBezTo>
                  <a:lnTo>
                    <a:pt x="0" y="35594"/>
                  </a:lnTo>
                  <a:cubicBezTo>
                    <a:pt x="0" y="15936"/>
                    <a:pt x="15936" y="0"/>
                    <a:pt x="3559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48780" cy="743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843171" y="2781300"/>
            <a:ext cx="7871063" cy="4699768"/>
          </a:xfrm>
          <a:custGeom>
            <a:avLst/>
            <a:gdLst/>
            <a:ahLst/>
            <a:cxnLst/>
            <a:rect l="l" t="t" r="r" b="b"/>
            <a:pathLst>
              <a:path w="7871063" h="4699768">
                <a:moveTo>
                  <a:pt x="0" y="0"/>
                </a:moveTo>
                <a:lnTo>
                  <a:pt x="7871063" y="0"/>
                </a:lnTo>
                <a:lnTo>
                  <a:pt x="7871063" y="4699769"/>
                </a:lnTo>
                <a:lnTo>
                  <a:pt x="0" y="4699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477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/>
          <p:cNvSpPr/>
          <p:nvPr/>
        </p:nvSpPr>
        <p:spPr>
          <a:xfrm>
            <a:off x="1380344" y="2827198"/>
            <a:ext cx="7700674" cy="4666186"/>
          </a:xfrm>
          <a:custGeom>
            <a:avLst/>
            <a:gdLst/>
            <a:ahLst/>
            <a:cxnLst/>
            <a:rect l="l" t="t" r="r" b="b"/>
            <a:pathLst>
              <a:path w="7700674" h="4666186">
                <a:moveTo>
                  <a:pt x="0" y="0"/>
                </a:moveTo>
                <a:lnTo>
                  <a:pt x="7700674" y="0"/>
                </a:lnTo>
                <a:lnTo>
                  <a:pt x="7700674" y="4666186"/>
                </a:lnTo>
                <a:lnTo>
                  <a:pt x="0" y="4666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19" r="-817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3" name="TextBox 13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4686" y="1201411"/>
            <a:ext cx="7559713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Engagement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4099" y="2147542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Total Flights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42129" y="2147542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Distance Per User Comparison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4099" y="7550534"/>
            <a:ext cx="6403332" cy="260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Promo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Flights per User: 46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Distance per User: 69386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Flights per User: 32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Avg Distance per User: 49061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34399" y="8438703"/>
            <a:ext cx="9022031" cy="110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Campaign users demonstrate higher engagement, with more flights and greater travel distance compared to baseline users.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0EB6E516-FD7E-22F4-27C7-69D5CD0C5FFF}"/>
              </a:ext>
            </a:extLst>
          </p:cNvPr>
          <p:cNvSpPr txBox="1"/>
          <p:nvPr/>
        </p:nvSpPr>
        <p:spPr>
          <a:xfrm>
            <a:off x="2107645" y="3162300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46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2267B3D-5BE6-F93C-57A1-85EA86A59C67}"/>
              </a:ext>
            </a:extLst>
          </p:cNvPr>
          <p:cNvSpPr txBox="1"/>
          <p:nvPr/>
        </p:nvSpPr>
        <p:spPr>
          <a:xfrm>
            <a:off x="5562600" y="440054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32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C7BED5E7-E5D4-1DB8-11ED-8CDE2E3B785D}"/>
              </a:ext>
            </a:extLst>
          </p:cNvPr>
          <p:cNvSpPr txBox="1"/>
          <p:nvPr/>
        </p:nvSpPr>
        <p:spPr>
          <a:xfrm>
            <a:off x="10820400" y="310197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69,386</a:t>
            </a: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7D107642-4D4C-439F-05F9-94A6E78A8981}"/>
              </a:ext>
            </a:extLst>
          </p:cNvPr>
          <p:cNvSpPr txBox="1"/>
          <p:nvPr/>
        </p:nvSpPr>
        <p:spPr>
          <a:xfrm>
            <a:off x="14223445" y="4305300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49,061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664332" y="8521843"/>
            <a:ext cx="15079182" cy="1371611"/>
            <a:chOff x="0" y="0"/>
            <a:chExt cx="3971472" cy="361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71472" cy="361247"/>
            </a:xfrm>
            <a:custGeom>
              <a:avLst/>
              <a:gdLst/>
              <a:ahLst/>
              <a:cxnLst/>
              <a:rect l="l" t="t" r="r" b="b"/>
              <a:pathLst>
                <a:path w="3971472" h="361247">
                  <a:moveTo>
                    <a:pt x="13349" y="0"/>
                  </a:moveTo>
                  <a:lnTo>
                    <a:pt x="3958123" y="0"/>
                  </a:lnTo>
                  <a:cubicBezTo>
                    <a:pt x="3961663" y="0"/>
                    <a:pt x="3965059" y="1406"/>
                    <a:pt x="3967562" y="3910"/>
                  </a:cubicBezTo>
                  <a:cubicBezTo>
                    <a:pt x="3970065" y="6413"/>
                    <a:pt x="3971472" y="9809"/>
                    <a:pt x="3971472" y="13349"/>
                  </a:cubicBezTo>
                  <a:lnTo>
                    <a:pt x="3971472" y="347898"/>
                  </a:lnTo>
                  <a:cubicBezTo>
                    <a:pt x="3971472" y="351439"/>
                    <a:pt x="3970065" y="354834"/>
                    <a:pt x="3967562" y="357338"/>
                  </a:cubicBezTo>
                  <a:cubicBezTo>
                    <a:pt x="3965059" y="359841"/>
                    <a:pt x="3961663" y="361247"/>
                    <a:pt x="3958123" y="361247"/>
                  </a:cubicBezTo>
                  <a:lnTo>
                    <a:pt x="13349" y="361247"/>
                  </a:lnTo>
                  <a:cubicBezTo>
                    <a:pt x="9809" y="361247"/>
                    <a:pt x="6413" y="359841"/>
                    <a:pt x="3910" y="357338"/>
                  </a:cubicBezTo>
                  <a:cubicBezTo>
                    <a:pt x="1406" y="354834"/>
                    <a:pt x="0" y="351439"/>
                    <a:pt x="0" y="347898"/>
                  </a:cubicBezTo>
                  <a:lnTo>
                    <a:pt x="0" y="13349"/>
                  </a:lnTo>
                  <a:cubicBezTo>
                    <a:pt x="0" y="9809"/>
                    <a:pt x="1406" y="6413"/>
                    <a:pt x="3910" y="3910"/>
                  </a:cubicBezTo>
                  <a:cubicBezTo>
                    <a:pt x="6413" y="1406"/>
                    <a:pt x="9809" y="0"/>
                    <a:pt x="13349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971472" cy="41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Freeform 7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8" name="Group 8"/>
          <p:cNvGrpSpPr/>
          <p:nvPr/>
        </p:nvGrpSpPr>
        <p:grpSpPr>
          <a:xfrm>
            <a:off x="13304673" y="4035942"/>
            <a:ext cx="4106295" cy="2215116"/>
            <a:chOff x="0" y="0"/>
            <a:chExt cx="1081493" cy="583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1493" cy="583405"/>
            </a:xfrm>
            <a:custGeom>
              <a:avLst/>
              <a:gdLst/>
              <a:ahLst/>
              <a:cxnLst/>
              <a:rect l="l" t="t" r="r" b="b"/>
              <a:pathLst>
                <a:path w="1081493" h="583405">
                  <a:moveTo>
                    <a:pt x="49020" y="0"/>
                  </a:moveTo>
                  <a:lnTo>
                    <a:pt x="1032473" y="0"/>
                  </a:lnTo>
                  <a:cubicBezTo>
                    <a:pt x="1059546" y="0"/>
                    <a:pt x="1081493" y="21947"/>
                    <a:pt x="1081493" y="49020"/>
                  </a:cubicBezTo>
                  <a:lnTo>
                    <a:pt x="1081493" y="534385"/>
                  </a:lnTo>
                  <a:cubicBezTo>
                    <a:pt x="1081493" y="561458"/>
                    <a:pt x="1059546" y="583405"/>
                    <a:pt x="1032473" y="583405"/>
                  </a:cubicBezTo>
                  <a:lnTo>
                    <a:pt x="49020" y="583405"/>
                  </a:lnTo>
                  <a:cubicBezTo>
                    <a:pt x="21947" y="583405"/>
                    <a:pt x="0" y="561458"/>
                    <a:pt x="0" y="534385"/>
                  </a:cubicBezTo>
                  <a:lnTo>
                    <a:pt x="0" y="49020"/>
                  </a:lnTo>
                  <a:cubicBezTo>
                    <a:pt x="0" y="21947"/>
                    <a:pt x="21947" y="0"/>
                    <a:pt x="49020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81493" cy="640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665720" y="2984527"/>
            <a:ext cx="8250955" cy="4728325"/>
          </a:xfrm>
          <a:custGeom>
            <a:avLst/>
            <a:gdLst/>
            <a:ahLst/>
            <a:cxnLst/>
            <a:rect l="l" t="t" r="r" b="b"/>
            <a:pathLst>
              <a:path w="8250955" h="4728325">
                <a:moveTo>
                  <a:pt x="0" y="0"/>
                </a:moveTo>
                <a:lnTo>
                  <a:pt x="8250955" y="0"/>
                </a:lnTo>
                <a:lnTo>
                  <a:pt x="8250955" y="4728325"/>
                </a:lnTo>
                <a:lnTo>
                  <a:pt x="0" y="4728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21" r="-122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7877" y="1184443"/>
            <a:ext cx="4590220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Retention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4332" y="8830310"/>
            <a:ext cx="15079182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Campaign customers show low cancellation rates and no early churn, indicating stable and committed users.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77394" y="2231518"/>
            <a:ext cx="962760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Cancellation Rate Comparison: Feb-Dec 2018 vs 2013-2017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99747" y="440054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11.8%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56045" y="3711575"/>
            <a:ext cx="34549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15.7%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04673" y="4511670"/>
            <a:ext cx="4106295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Early Churn Rate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(&lt;=3 months):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51" b="-839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15642382" y="-55621"/>
            <a:ext cx="2645618" cy="2204373"/>
          </a:xfrm>
          <a:custGeom>
            <a:avLst/>
            <a:gdLst/>
            <a:ahLst/>
            <a:cxnLst/>
            <a:rect l="l" t="t" r="r" b="b"/>
            <a:pathLst>
              <a:path w="2645618" h="2204373">
                <a:moveTo>
                  <a:pt x="2645618" y="0"/>
                </a:moveTo>
                <a:lnTo>
                  <a:pt x="0" y="0"/>
                </a:lnTo>
                <a:lnTo>
                  <a:pt x="0" y="2204373"/>
                </a:lnTo>
                <a:lnTo>
                  <a:pt x="2645618" y="2204373"/>
                </a:lnTo>
                <a:lnTo>
                  <a:pt x="26456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4522458" y="8298689"/>
            <a:ext cx="9393520" cy="1673439"/>
            <a:chOff x="0" y="0"/>
            <a:chExt cx="2406501" cy="428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6501" cy="428714"/>
            </a:xfrm>
            <a:custGeom>
              <a:avLst/>
              <a:gdLst/>
              <a:ahLst/>
              <a:cxnLst/>
              <a:rect l="l" t="t" r="r" b="b"/>
              <a:pathLst>
                <a:path w="2406501" h="428714">
                  <a:moveTo>
                    <a:pt x="21429" y="0"/>
                  </a:moveTo>
                  <a:lnTo>
                    <a:pt x="2385072" y="0"/>
                  </a:lnTo>
                  <a:cubicBezTo>
                    <a:pt x="2396907" y="0"/>
                    <a:pt x="2406501" y="9594"/>
                    <a:pt x="2406501" y="21429"/>
                  </a:cubicBezTo>
                  <a:lnTo>
                    <a:pt x="2406501" y="407285"/>
                  </a:lnTo>
                  <a:cubicBezTo>
                    <a:pt x="2406501" y="419120"/>
                    <a:pt x="2396907" y="428714"/>
                    <a:pt x="2385072" y="428714"/>
                  </a:cubicBezTo>
                  <a:lnTo>
                    <a:pt x="21429" y="428714"/>
                  </a:lnTo>
                  <a:cubicBezTo>
                    <a:pt x="9594" y="428714"/>
                    <a:pt x="0" y="419120"/>
                    <a:pt x="0" y="407285"/>
                  </a:cubicBezTo>
                  <a:lnTo>
                    <a:pt x="0" y="21429"/>
                  </a:lnTo>
                  <a:cubicBezTo>
                    <a:pt x="0" y="9594"/>
                    <a:pt x="9594" y="0"/>
                    <a:pt x="21429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06501" cy="485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235218" y="2856880"/>
            <a:ext cx="7968001" cy="4619713"/>
          </a:xfrm>
          <a:custGeom>
            <a:avLst/>
            <a:gdLst/>
            <a:ahLst/>
            <a:cxnLst/>
            <a:rect l="l" t="t" r="r" b="b"/>
            <a:pathLst>
              <a:path w="7968001" h="4619713">
                <a:moveTo>
                  <a:pt x="0" y="0"/>
                </a:moveTo>
                <a:lnTo>
                  <a:pt x="7968000" y="0"/>
                </a:lnTo>
                <a:lnTo>
                  <a:pt x="7968000" y="4619713"/>
                </a:lnTo>
                <a:lnTo>
                  <a:pt x="0" y="4619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TextBox 9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9005" y="1128880"/>
            <a:ext cx="6520195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VALUE (CLV)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93947" y="8697633"/>
            <a:ext cx="9022031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Campaign users show slightly higher average CLV, suggesting stronger long-term value contribution.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2881" y="2282205"/>
            <a:ext cx="740223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CLV Comparison  </a:t>
            </a:r>
            <a:r>
              <a:rPr lang="en-US" sz="2499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  <a:r>
              <a:rPr lang="he-IL" sz="2400" b="1" dirty="0">
                <a:solidFill>
                  <a:srgbClr val="92D050"/>
                </a:solidFill>
              </a:rPr>
              <a:t>▲</a:t>
            </a:r>
            <a:r>
              <a:rPr lang="en-US" sz="2499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he-IL" sz="2800" b="1" dirty="0">
                <a:solidFill>
                  <a:srgbClr val="92D050"/>
                </a:solidFill>
              </a:rPr>
              <a:t>2.1%</a:t>
            </a:r>
            <a:endParaRPr lang="en-US" sz="2499" b="1" dirty="0">
              <a:solidFill>
                <a:srgbClr val="92D05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21231" y="3161680"/>
            <a:ext cx="3454955" cy="7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8046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(CAD / CDN)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37" y="3190255"/>
            <a:ext cx="3454955" cy="7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7985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(CAD / CDN)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664332" y="1281641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8724934" y="1281641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0" y="2327772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3473912" y="2168418"/>
            <a:ext cx="4581047" cy="6866078"/>
            <a:chOff x="0" y="0"/>
            <a:chExt cx="812800" cy="121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72670" y="0"/>
                  </a:moveTo>
                  <a:lnTo>
                    <a:pt x="740130" y="0"/>
                  </a:lnTo>
                  <a:cubicBezTo>
                    <a:pt x="759404" y="0"/>
                    <a:pt x="777887" y="7656"/>
                    <a:pt x="791516" y="21284"/>
                  </a:cubicBezTo>
                  <a:cubicBezTo>
                    <a:pt x="805144" y="34913"/>
                    <a:pt x="812800" y="53396"/>
                    <a:pt x="812800" y="72670"/>
                  </a:cubicBezTo>
                  <a:lnTo>
                    <a:pt x="812800" y="1145556"/>
                  </a:lnTo>
                  <a:cubicBezTo>
                    <a:pt x="812800" y="1164829"/>
                    <a:pt x="805144" y="1183313"/>
                    <a:pt x="791516" y="1196941"/>
                  </a:cubicBezTo>
                  <a:cubicBezTo>
                    <a:pt x="777887" y="1210569"/>
                    <a:pt x="759404" y="1218226"/>
                    <a:pt x="740130" y="1218226"/>
                  </a:cubicBezTo>
                  <a:lnTo>
                    <a:pt x="72670" y="1218226"/>
                  </a:lnTo>
                  <a:cubicBezTo>
                    <a:pt x="53396" y="1218226"/>
                    <a:pt x="34913" y="1210569"/>
                    <a:pt x="21284" y="1196941"/>
                  </a:cubicBezTo>
                  <a:cubicBezTo>
                    <a:pt x="7656" y="1183313"/>
                    <a:pt x="0" y="1164829"/>
                    <a:pt x="0" y="1145556"/>
                  </a:cubicBezTo>
                  <a:lnTo>
                    <a:pt x="0" y="72670"/>
                  </a:lnTo>
                  <a:cubicBezTo>
                    <a:pt x="0" y="53396"/>
                    <a:pt x="7656" y="34913"/>
                    <a:pt x="21284" y="21284"/>
                  </a:cubicBezTo>
                  <a:cubicBezTo>
                    <a:pt x="34913" y="7656"/>
                    <a:pt x="53396" y="0"/>
                    <a:pt x="72670" y="0"/>
                  </a:cubicBezTo>
                  <a:close/>
                </a:path>
              </a:pathLst>
            </a:custGeom>
            <a:blipFill>
              <a:blip r:embed="rId5"/>
              <a:stretch>
                <a:fillRect t="-9286" b="-928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99964" y="1333874"/>
            <a:ext cx="253940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NLA Airlines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15938" y="4610398"/>
            <a:ext cx="8820928" cy="215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SUMMER TRAVEL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820496" y="4883623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744590" y="6368007"/>
            <a:ext cx="6875410" cy="3249396"/>
            <a:chOff x="0" y="0"/>
            <a:chExt cx="1810808" cy="8558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0808" cy="855808"/>
            </a:xfrm>
            <a:custGeom>
              <a:avLst/>
              <a:gdLst/>
              <a:ahLst/>
              <a:cxnLst/>
              <a:rect l="l" t="t" r="r" b="b"/>
              <a:pathLst>
                <a:path w="1810808" h="855808">
                  <a:moveTo>
                    <a:pt x="29277" y="0"/>
                  </a:moveTo>
                  <a:lnTo>
                    <a:pt x="1781531" y="0"/>
                  </a:lnTo>
                  <a:cubicBezTo>
                    <a:pt x="1797700" y="0"/>
                    <a:pt x="1810808" y="13108"/>
                    <a:pt x="1810808" y="29277"/>
                  </a:cubicBezTo>
                  <a:lnTo>
                    <a:pt x="1810808" y="826531"/>
                  </a:lnTo>
                  <a:cubicBezTo>
                    <a:pt x="1810808" y="842701"/>
                    <a:pt x="1797700" y="855808"/>
                    <a:pt x="1781531" y="855808"/>
                  </a:cubicBezTo>
                  <a:lnTo>
                    <a:pt x="29277" y="855808"/>
                  </a:lnTo>
                  <a:cubicBezTo>
                    <a:pt x="13108" y="855808"/>
                    <a:pt x="0" y="842701"/>
                    <a:pt x="0" y="826531"/>
                  </a:cubicBezTo>
                  <a:lnTo>
                    <a:pt x="0" y="29277"/>
                  </a:lnTo>
                  <a:cubicBezTo>
                    <a:pt x="0" y="13108"/>
                    <a:pt x="13108" y="0"/>
                    <a:pt x="29277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10808" cy="912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7093" y="4187682"/>
            <a:ext cx="5658172" cy="1859826"/>
            <a:chOff x="0" y="0"/>
            <a:chExt cx="1586273" cy="583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6273" cy="583405"/>
            </a:xfrm>
            <a:custGeom>
              <a:avLst/>
              <a:gdLst/>
              <a:ahLst/>
              <a:cxnLst/>
              <a:rect l="l" t="t" r="r" b="b"/>
              <a:pathLst>
                <a:path w="1586273" h="583405">
                  <a:moveTo>
                    <a:pt x="33421" y="0"/>
                  </a:moveTo>
                  <a:lnTo>
                    <a:pt x="1552853" y="0"/>
                  </a:lnTo>
                  <a:cubicBezTo>
                    <a:pt x="1561716" y="0"/>
                    <a:pt x="1570217" y="3521"/>
                    <a:pt x="1576485" y="9789"/>
                  </a:cubicBezTo>
                  <a:cubicBezTo>
                    <a:pt x="1582752" y="16056"/>
                    <a:pt x="1586273" y="24557"/>
                    <a:pt x="1586273" y="33421"/>
                  </a:cubicBezTo>
                  <a:lnTo>
                    <a:pt x="1586273" y="549984"/>
                  </a:lnTo>
                  <a:cubicBezTo>
                    <a:pt x="1586273" y="558848"/>
                    <a:pt x="1582752" y="567349"/>
                    <a:pt x="1576485" y="573616"/>
                  </a:cubicBezTo>
                  <a:cubicBezTo>
                    <a:pt x="1570217" y="579884"/>
                    <a:pt x="1561716" y="583405"/>
                    <a:pt x="1552853" y="583405"/>
                  </a:cubicBezTo>
                  <a:lnTo>
                    <a:pt x="33421" y="583405"/>
                  </a:lnTo>
                  <a:cubicBezTo>
                    <a:pt x="24557" y="583405"/>
                    <a:pt x="16056" y="579884"/>
                    <a:pt x="9789" y="573616"/>
                  </a:cubicBezTo>
                  <a:cubicBezTo>
                    <a:pt x="3521" y="567349"/>
                    <a:pt x="0" y="558848"/>
                    <a:pt x="0" y="549984"/>
                  </a:cubicBezTo>
                  <a:lnTo>
                    <a:pt x="0" y="33421"/>
                  </a:lnTo>
                  <a:cubicBezTo>
                    <a:pt x="0" y="24557"/>
                    <a:pt x="3521" y="16056"/>
                    <a:pt x="9789" y="9789"/>
                  </a:cubicBezTo>
                  <a:cubicBezTo>
                    <a:pt x="16056" y="3521"/>
                    <a:pt x="24557" y="0"/>
                    <a:pt x="33421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86273" cy="640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46639" y="1076884"/>
            <a:ext cx="13141211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38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POST-CAMPAIGN GROWTH IN SUMMER FLIGHTS</a:t>
            </a:r>
          </a:p>
          <a:p>
            <a:pPr algn="ctr">
              <a:lnSpc>
                <a:spcPts val="6838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June-Aug 2017 vs 2018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5237" y="6583630"/>
            <a:ext cx="6368392" cy="2596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Summer flight bookings increased significantly from 2017 to 2018</a:t>
            </a:r>
          </a:p>
          <a:p>
            <a:pPr algn="ctr">
              <a:lnSpc>
                <a:spcPts val="3440"/>
              </a:lnSpc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(</a:t>
            </a:r>
            <a:r>
              <a:rPr lang="en-US" sz="28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June-Aug)</a:t>
            </a: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ctr">
              <a:lnSpc>
                <a:spcPts val="344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Growth was driven by both more customers and higher activity per customer.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5400" y="4426765"/>
            <a:ext cx="5574209" cy="96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+43% Total Flights</a:t>
            </a:r>
          </a:p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+35% Avg Flights per Customer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E27144-1884-4DCB-67C7-38D18445B4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374" b="408"/>
          <a:stretch>
            <a:fillRect/>
          </a:stretch>
        </p:blipFill>
        <p:spPr>
          <a:xfrm>
            <a:off x="8187646" y="3009901"/>
            <a:ext cx="9956567" cy="6781800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14097000" y="7619144"/>
            <a:ext cx="2852222" cy="1181956"/>
          </a:xfrm>
          <a:custGeom>
            <a:avLst/>
            <a:gdLst/>
            <a:ahLst/>
            <a:cxnLst/>
            <a:rect l="l" t="t" r="r" b="b"/>
            <a:pathLst>
              <a:path w="2961244" h="1181956">
                <a:moveTo>
                  <a:pt x="0" y="0"/>
                </a:moveTo>
                <a:lnTo>
                  <a:pt x="2961244" y="0"/>
                </a:lnTo>
                <a:lnTo>
                  <a:pt x="2961244" y="1181955"/>
                </a:lnTo>
                <a:lnTo>
                  <a:pt x="0" y="1181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474675" y="607300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1"/>
                </a:lnTo>
                <a:lnTo>
                  <a:pt x="0" y="536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1282121" y="7311959"/>
            <a:ext cx="5910177" cy="2720051"/>
            <a:chOff x="0" y="0"/>
            <a:chExt cx="1514113" cy="6968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4113" cy="696843"/>
            </a:xfrm>
            <a:custGeom>
              <a:avLst/>
              <a:gdLst/>
              <a:ahLst/>
              <a:cxnLst/>
              <a:rect l="l" t="t" r="r" b="b"/>
              <a:pathLst>
                <a:path w="1514113" h="696843">
                  <a:moveTo>
                    <a:pt x="34058" y="0"/>
                  </a:moveTo>
                  <a:lnTo>
                    <a:pt x="1480055" y="0"/>
                  </a:lnTo>
                  <a:cubicBezTo>
                    <a:pt x="1498864" y="0"/>
                    <a:pt x="1514113" y="15248"/>
                    <a:pt x="1514113" y="34058"/>
                  </a:cubicBezTo>
                  <a:lnTo>
                    <a:pt x="1514113" y="662784"/>
                  </a:lnTo>
                  <a:cubicBezTo>
                    <a:pt x="1514113" y="671817"/>
                    <a:pt x="1510524" y="680480"/>
                    <a:pt x="1504137" y="686867"/>
                  </a:cubicBezTo>
                  <a:cubicBezTo>
                    <a:pt x="1497750" y="693254"/>
                    <a:pt x="1489087" y="696843"/>
                    <a:pt x="1480055" y="696843"/>
                  </a:cubicBezTo>
                  <a:lnTo>
                    <a:pt x="34058" y="696843"/>
                  </a:lnTo>
                  <a:cubicBezTo>
                    <a:pt x="25025" y="696843"/>
                    <a:pt x="16363" y="693254"/>
                    <a:pt x="9975" y="686867"/>
                  </a:cubicBezTo>
                  <a:cubicBezTo>
                    <a:pt x="3588" y="680480"/>
                    <a:pt x="0" y="671817"/>
                    <a:pt x="0" y="662784"/>
                  </a:cubicBezTo>
                  <a:lnTo>
                    <a:pt x="0" y="34058"/>
                  </a:lnTo>
                  <a:cubicBezTo>
                    <a:pt x="0" y="25025"/>
                    <a:pt x="3588" y="16363"/>
                    <a:pt x="9975" y="9975"/>
                  </a:cubicBezTo>
                  <a:cubicBezTo>
                    <a:pt x="16363" y="3588"/>
                    <a:pt x="25025" y="0"/>
                    <a:pt x="34058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514113" cy="75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8898" y="7311959"/>
            <a:ext cx="7601302" cy="2787996"/>
            <a:chOff x="0" y="0"/>
            <a:chExt cx="1867510" cy="7142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510" cy="714249"/>
            </a:xfrm>
            <a:custGeom>
              <a:avLst/>
              <a:gdLst/>
              <a:ahLst/>
              <a:cxnLst/>
              <a:rect l="l" t="t" r="r" b="b"/>
              <a:pathLst>
                <a:path w="1867510" h="714249">
                  <a:moveTo>
                    <a:pt x="27613" y="0"/>
                  </a:moveTo>
                  <a:lnTo>
                    <a:pt x="1839897" y="0"/>
                  </a:lnTo>
                  <a:cubicBezTo>
                    <a:pt x="1847221" y="0"/>
                    <a:pt x="1854244" y="2909"/>
                    <a:pt x="1859423" y="8088"/>
                  </a:cubicBezTo>
                  <a:cubicBezTo>
                    <a:pt x="1864601" y="13266"/>
                    <a:pt x="1867510" y="20290"/>
                    <a:pt x="1867510" y="27613"/>
                  </a:cubicBezTo>
                  <a:lnTo>
                    <a:pt x="1867510" y="686636"/>
                  </a:lnTo>
                  <a:cubicBezTo>
                    <a:pt x="1867510" y="693960"/>
                    <a:pt x="1864601" y="700983"/>
                    <a:pt x="1859423" y="706161"/>
                  </a:cubicBezTo>
                  <a:cubicBezTo>
                    <a:pt x="1854244" y="711340"/>
                    <a:pt x="1847221" y="714249"/>
                    <a:pt x="1839897" y="714249"/>
                  </a:cubicBezTo>
                  <a:lnTo>
                    <a:pt x="27613" y="714249"/>
                  </a:lnTo>
                  <a:cubicBezTo>
                    <a:pt x="20290" y="714249"/>
                    <a:pt x="13266" y="711340"/>
                    <a:pt x="8088" y="706161"/>
                  </a:cubicBezTo>
                  <a:cubicBezTo>
                    <a:pt x="2909" y="700983"/>
                    <a:pt x="0" y="693960"/>
                    <a:pt x="0" y="686636"/>
                  </a:cubicBezTo>
                  <a:lnTo>
                    <a:pt x="0" y="27613"/>
                  </a:lnTo>
                  <a:cubicBezTo>
                    <a:pt x="0" y="20290"/>
                    <a:pt x="2909" y="13266"/>
                    <a:pt x="8088" y="8088"/>
                  </a:cubicBezTo>
                  <a:cubicBezTo>
                    <a:pt x="13266" y="2909"/>
                    <a:pt x="20290" y="0"/>
                    <a:pt x="27613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510" cy="771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62735" y="3218237"/>
            <a:ext cx="6490744" cy="3983680"/>
          </a:xfrm>
          <a:custGeom>
            <a:avLst/>
            <a:gdLst/>
            <a:ahLst/>
            <a:cxnLst/>
            <a:rect l="l" t="t" r="r" b="b"/>
            <a:pathLst>
              <a:path w="6490744" h="3983680">
                <a:moveTo>
                  <a:pt x="0" y="0"/>
                </a:moveTo>
                <a:lnTo>
                  <a:pt x="6490744" y="0"/>
                </a:lnTo>
                <a:lnTo>
                  <a:pt x="6490744" y="3983680"/>
                </a:lnTo>
                <a:lnTo>
                  <a:pt x="0" y="3983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68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2410902" y="1061553"/>
            <a:ext cx="14076836" cy="120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91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NEW MEMBER ENGAGEMENT: </a:t>
            </a:r>
          </a:p>
          <a:p>
            <a:pPr>
              <a:lnSpc>
                <a:spcPts val="4691"/>
              </a:lnSpc>
            </a:pPr>
            <a:r>
              <a:rPr lang="en-US" sz="400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SUMMER FLIGHT ACTIVITY POST-CAMPAIGN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29894" y="7488999"/>
            <a:ext cx="5001420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campaign successfully converted new members into active customers, with nearly 90% flying during the summer season.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1685" y="7452764"/>
            <a:ext cx="7045879" cy="2523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3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Campaign-acquired members generated over 24K summer flights, contributing significantly to overall activity.</a:t>
            </a:r>
          </a:p>
          <a:p>
            <a:pPr algn="ctr">
              <a:lnSpc>
                <a:spcPts val="3263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indicates the campaign drove not only sign-ups, but also real engagement and flight bookings.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0810" y="2381756"/>
            <a:ext cx="7106754" cy="84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of Summer 2018 (June-Aug) Flights by Customer Type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68661" y="2381756"/>
            <a:ext cx="7518049" cy="84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Summer Flight Activity Among New Members 2018</a:t>
            </a: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June-Aug </a:t>
            </a:r>
            <a:r>
              <a:rPr lang="en-US" sz="23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2F25C8-9785-B46C-72B2-D03EBF494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0543" y="3277120"/>
            <a:ext cx="4374283" cy="39568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/>
          <p:cNvSpPr txBox="1"/>
          <p:nvPr/>
        </p:nvSpPr>
        <p:spPr>
          <a:xfrm>
            <a:off x="221673" y="3238500"/>
            <a:ext cx="11648126" cy="215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72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cs typeface="Poppins Semi-Bold"/>
              </a:rPr>
              <a:t>Campaign Impact 				&amp; Success</a:t>
            </a:r>
            <a:endParaRPr lang="en-US" sz="8833" b="1" dirty="0">
              <a:solidFill>
                <a:srgbClr val="FFFFFF"/>
              </a:solidFill>
              <a:latin typeface="Poppins Semi-Bold"/>
              <a:cs typeface="Poppins Semi-Bold"/>
              <a:sym typeface="Poppins Semi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5AB649-7572-91D3-F7C2-7282632D7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6200" y="1866900"/>
            <a:ext cx="6096000" cy="6096000"/>
          </a:xfrm>
          <a:prstGeom prst="roundRect">
            <a:avLst>
              <a:gd name="adj" fmla="val 16667"/>
            </a:avLst>
          </a:prstGeom>
          <a:ln w="38100"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A587-4256-7FCC-004C-DCFFF5C5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1EE365-DA9C-64F1-5863-5B962CBD273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37" t="-19492" b="-7469"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121397-8D85-3A33-7075-FD7E6EC76C23}"/>
              </a:ext>
            </a:extLst>
          </p:cNvPr>
          <p:cNvSpPr/>
          <p:nvPr/>
        </p:nvSpPr>
        <p:spPr>
          <a:xfrm flipH="1">
            <a:off x="8100163" y="3368937"/>
            <a:ext cx="2461536" cy="2050992"/>
          </a:xfrm>
          <a:custGeom>
            <a:avLst/>
            <a:gdLst/>
            <a:ahLst/>
            <a:cxnLst/>
            <a:rect l="l" t="t" r="r" b="b"/>
            <a:pathLst>
              <a:path w="2461536" h="2050992">
                <a:moveTo>
                  <a:pt x="2461536" y="0"/>
                </a:moveTo>
                <a:lnTo>
                  <a:pt x="0" y="0"/>
                </a:lnTo>
                <a:lnTo>
                  <a:pt x="0" y="2050992"/>
                </a:lnTo>
                <a:lnTo>
                  <a:pt x="2461536" y="2050992"/>
                </a:lnTo>
                <a:lnTo>
                  <a:pt x="24615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4D1A140-BAA3-9010-0477-B84D253DF4AA}"/>
              </a:ext>
            </a:extLst>
          </p:cNvPr>
          <p:cNvGrpSpPr/>
          <p:nvPr/>
        </p:nvGrpSpPr>
        <p:grpSpPr>
          <a:xfrm>
            <a:off x="7742302" y="1485900"/>
            <a:ext cx="10386373" cy="6858000"/>
            <a:chOff x="0" y="0"/>
            <a:chExt cx="1958753" cy="12107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474335-25FB-91EB-3E01-30FB4D2B152A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D9AE74C-E25D-AA7F-90D6-902578FE61C0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194111D-7331-61AB-60D3-78282BD4BF06}"/>
              </a:ext>
            </a:extLst>
          </p:cNvPr>
          <p:cNvSpPr txBox="1"/>
          <p:nvPr/>
        </p:nvSpPr>
        <p:spPr>
          <a:xfrm>
            <a:off x="8305800" y="2205952"/>
            <a:ext cx="9390021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The 2018 campaign was successful in driving both customer growth and activity. It attracted high-quality customers who demonstrated strong engagement, with higher flight frequency and travel distance.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In addition, the campaign’s impact extended beyond its duration, with a significant increase in flight activity during the following summer compared to the previous year.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Overall, the campaign proved effective and represents a strong model to replicate in future initiatives.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DF9CD48-EAE4-2E1C-52C8-C83A046377E6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D55B70B-C649-3F7B-9F40-4C808B402A42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pic>
        <p:nvPicPr>
          <p:cNvPr id="15" name="Picture 14" descr="An airplane taking off from a runway&#10;&#10;AI-generated content may be incorrect.">
            <a:extLst>
              <a:ext uri="{FF2B5EF4-FFF2-40B4-BE49-F238E27FC236}">
                <a16:creationId xmlns:a16="http://schemas.microsoft.com/office/drawing/2014/main" id="{A1AA030A-49D2-54AC-2F4D-7EAA71CEC2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2976" y="6041578"/>
            <a:ext cx="7747187" cy="3785557"/>
          </a:xfrm>
          <a:prstGeom prst="roundRect">
            <a:avLst>
              <a:gd name="adj" fmla="val 16667"/>
            </a:avLst>
          </a:prstGeom>
          <a:ln w="38100"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1321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3ED8-633A-FE87-2B5E-262EC889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D0BF9B-F2EC-EFF2-41A6-10FA59134B5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DA8655-F2EF-C77F-8F40-E9C3C50F2E3B}"/>
              </a:ext>
            </a:extLst>
          </p:cNvPr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7DA17AE-0C7C-91F9-3173-B957CC10E413}"/>
              </a:ext>
            </a:extLst>
          </p:cNvPr>
          <p:cNvGrpSpPr/>
          <p:nvPr/>
        </p:nvGrpSpPr>
        <p:grpSpPr>
          <a:xfrm>
            <a:off x="12798550" y="1395035"/>
            <a:ext cx="5246370" cy="7863265"/>
            <a:chOff x="0" y="0"/>
            <a:chExt cx="812800" cy="12182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02364E4-26C0-83FC-61D1-F726EC2964F4}"/>
                </a:ext>
              </a:extLst>
            </p:cNvPr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63454" y="0"/>
                  </a:moveTo>
                  <a:lnTo>
                    <a:pt x="749346" y="0"/>
                  </a:lnTo>
                  <a:cubicBezTo>
                    <a:pt x="784391" y="0"/>
                    <a:pt x="812800" y="28409"/>
                    <a:pt x="812800" y="63454"/>
                  </a:cubicBezTo>
                  <a:lnTo>
                    <a:pt x="812800" y="1154772"/>
                  </a:lnTo>
                  <a:cubicBezTo>
                    <a:pt x="812800" y="1189816"/>
                    <a:pt x="784391" y="1218226"/>
                    <a:pt x="749346" y="1218226"/>
                  </a:cubicBezTo>
                  <a:lnTo>
                    <a:pt x="63454" y="1218226"/>
                  </a:lnTo>
                  <a:cubicBezTo>
                    <a:pt x="28409" y="1218226"/>
                    <a:pt x="0" y="1189816"/>
                    <a:pt x="0" y="1154772"/>
                  </a:cubicBezTo>
                  <a:lnTo>
                    <a:pt x="0" y="63454"/>
                  </a:lnTo>
                  <a:cubicBezTo>
                    <a:pt x="0" y="28409"/>
                    <a:pt x="28409" y="0"/>
                    <a:pt x="63454" y="0"/>
                  </a:cubicBezTo>
                  <a:close/>
                </a:path>
              </a:pathLst>
            </a:custGeom>
            <a:blipFill>
              <a:blip r:embed="rId4"/>
              <a:stretch>
                <a:fillRect l="-9952" r="-9952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3607EE8-4C32-A20F-3B5E-F5D60D0C3405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FBD3FB-2517-25AD-EAAB-1A409AE4B62A}"/>
              </a:ext>
            </a:extLst>
          </p:cNvPr>
          <p:cNvSpPr txBox="1"/>
          <p:nvPr/>
        </p:nvSpPr>
        <p:spPr>
          <a:xfrm>
            <a:off x="184486" y="4610398"/>
            <a:ext cx="11648126" cy="11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9394B4-3269-C168-99B8-900503528EE5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  <p:extLst>
      <p:ext uri="{BB962C8B-B14F-4D97-AF65-F5344CB8AC3E}">
        <p14:creationId xmlns:p14="http://schemas.microsoft.com/office/powerpoint/2010/main" val="2996477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534C-AD41-308D-F95F-94EAF272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E196A8-900F-0B1E-EC7D-4AC56742E30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718B1AF-F241-E8ED-2496-7E3CA500DE61}"/>
              </a:ext>
            </a:extLst>
          </p:cNvPr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64F0508-4E80-0FF4-DA3D-911362A1CE67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783B17-77F1-F1C3-6292-B6C7FC933882}"/>
              </a:ext>
            </a:extLst>
          </p:cNvPr>
          <p:cNvSpPr txBox="1"/>
          <p:nvPr/>
        </p:nvSpPr>
        <p:spPr>
          <a:xfrm>
            <a:off x="3775668" y="1227819"/>
            <a:ext cx="11648126" cy="11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4AA402-62E3-2392-D892-3725ADE62A16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5188FA-79E3-4595-62E7-82FC1A90A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655" y="2119180"/>
            <a:ext cx="14446690" cy="81678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noFill/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734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7B11-0EAE-CB41-61BF-34A42914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CF6170-A9A4-EADB-078B-110AE51CD90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FC6AA2F-C792-7DCF-0116-552BD35155DC}"/>
              </a:ext>
            </a:extLst>
          </p:cNvPr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1D75E84-FF4E-E579-91D0-BA39129612D0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58DEEC0-55AB-9241-8C4D-6AF57AE84DC6}"/>
              </a:ext>
            </a:extLst>
          </p:cNvPr>
          <p:cNvSpPr txBox="1"/>
          <p:nvPr/>
        </p:nvSpPr>
        <p:spPr>
          <a:xfrm>
            <a:off x="381000" y="1395035"/>
            <a:ext cx="17297400" cy="1076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STRTEGIC RECOMMENDATIONS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0FEE25D-18B5-9858-880E-88587D616071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14A9212A-559E-4A19-636A-73F42FE1E4C7}"/>
              </a:ext>
            </a:extLst>
          </p:cNvPr>
          <p:cNvGrpSpPr/>
          <p:nvPr/>
        </p:nvGrpSpPr>
        <p:grpSpPr>
          <a:xfrm>
            <a:off x="838200" y="2319596"/>
            <a:ext cx="11277600" cy="3981465"/>
            <a:chOff x="0" y="0"/>
            <a:chExt cx="1958753" cy="121071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F643615-79F9-6626-C447-97EE698933F6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FE453FD9-E75B-1D35-A5DA-54089B28B565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F39B59B6-F795-1ED7-7AC0-18E407E587CC}"/>
              </a:ext>
            </a:extLst>
          </p:cNvPr>
          <p:cNvSpPr txBox="1"/>
          <p:nvPr/>
        </p:nvSpPr>
        <p:spPr>
          <a:xfrm>
            <a:off x="1160066" y="2628900"/>
            <a:ext cx="10879534" cy="3477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Quality Over Quantity – Strong Customer Acquisition</a:t>
            </a:r>
          </a:p>
          <a:p>
            <a:endParaRPr lang="en-US" sz="28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The campaign generated 856 net enrollments, but more importantly delivered higher quality customers than the historical baseline.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Lower cancellation rate (-4%) → stronger retention and reduced churn risk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Higher CLV (+2.1%) → customers are more profitable over time</a:t>
            </a: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F8F4B026-D26B-4BF4-AA8B-E823D5642D2A}"/>
              </a:ext>
            </a:extLst>
          </p:cNvPr>
          <p:cNvGrpSpPr/>
          <p:nvPr/>
        </p:nvGrpSpPr>
        <p:grpSpPr>
          <a:xfrm>
            <a:off x="6709086" y="6457965"/>
            <a:ext cx="10879533" cy="3587547"/>
            <a:chOff x="0" y="0"/>
            <a:chExt cx="1958753" cy="1210712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61E0585-477C-ABF8-C3B5-9DAA20671A4D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67E9BB77-F045-27DE-025E-BFA0585F3D3A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9" name="TextBox 10">
            <a:extLst>
              <a:ext uri="{FF2B5EF4-FFF2-40B4-BE49-F238E27FC236}">
                <a16:creationId xmlns:a16="http://schemas.microsoft.com/office/drawing/2014/main" id="{38AD2598-C411-7E4F-19A4-0B99AA59FE03}"/>
              </a:ext>
            </a:extLst>
          </p:cNvPr>
          <p:cNvSpPr txBox="1"/>
          <p:nvPr/>
        </p:nvSpPr>
        <p:spPr>
          <a:xfrm>
            <a:off x="6798866" y="6667500"/>
            <a:ext cx="10803334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Behavioral Breakthrough – Extreme Summer Engagement</a:t>
            </a:r>
          </a:p>
          <a:p>
            <a:endParaRPr lang="en-US" sz="28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Promo customers completed 8.2 flights vs 1.5 baseline </a:t>
            </a:r>
            <a:b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</a:br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(+439%) Strong and consistent activity across the entire summer period (Jun–Aug)</a:t>
            </a:r>
          </a:p>
          <a:p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Engagement is not only higher – it is structurally </a:t>
            </a:r>
            <a:b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</a:br>
            <a:r>
              <a:rPr lang="en-US" sz="2800" dirty="0">
                <a:solidFill>
                  <a:srgbClr val="FFFFFF"/>
                </a:solidFill>
                <a:latin typeface="Poppins Extra-Light"/>
                <a:cs typeface="Poppins Extra-Light"/>
              </a:rPr>
              <a:t>different behavior</a:t>
            </a:r>
          </a:p>
        </p:txBody>
      </p:sp>
    </p:spTree>
    <p:extLst>
      <p:ext uri="{BB962C8B-B14F-4D97-AF65-F5344CB8AC3E}">
        <p14:creationId xmlns:p14="http://schemas.microsoft.com/office/powerpoint/2010/main" val="2846243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3495-7D00-452E-81E9-3D7D23E0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C6E18D-ED3A-9E00-7095-C33DF7B3E49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4A710EA-6BF8-350A-12C7-B488282A0A69}"/>
              </a:ext>
            </a:extLst>
          </p:cNvPr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22A1854-4D62-9A91-03AE-70876E52F02A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268052-3F79-31D3-AB20-CDEF4D92D758}"/>
              </a:ext>
            </a:extLst>
          </p:cNvPr>
          <p:cNvSpPr txBox="1"/>
          <p:nvPr/>
        </p:nvSpPr>
        <p:spPr>
          <a:xfrm>
            <a:off x="381000" y="1395035"/>
            <a:ext cx="17297400" cy="1076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STRTEGIC RECOMMENDATIONS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DD534AC-C899-5207-E712-DCA614F90296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3C079D1-AFC9-B93A-B551-8DD68FAB0479}"/>
              </a:ext>
            </a:extLst>
          </p:cNvPr>
          <p:cNvGrpSpPr/>
          <p:nvPr/>
        </p:nvGrpSpPr>
        <p:grpSpPr>
          <a:xfrm>
            <a:off x="1168514" y="2568218"/>
            <a:ext cx="14376286" cy="7013846"/>
            <a:chOff x="0" y="0"/>
            <a:chExt cx="1958753" cy="121071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9577BA8-A63B-A3DC-4E2B-C8340AB36ED9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F67D3D37-8981-56C5-E6CE-5F94EF7B344A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3B99376D-7103-3BBF-7A69-13BC41ABBDE7}"/>
              </a:ext>
            </a:extLst>
          </p:cNvPr>
          <p:cNvSpPr txBox="1"/>
          <p:nvPr/>
        </p:nvSpPr>
        <p:spPr>
          <a:xfrm>
            <a:off x="1873476" y="2606318"/>
            <a:ext cx="12129830" cy="700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Segmentation Matters</a:t>
            </a:r>
            <a:endParaRPr lang="en-US" sz="28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Not all customers respond to the campaign the same way - and that’s where the real insight lies.</a:t>
            </a:r>
            <a:b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</a:br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While overall performance improved, the impact is clearly driven by specific high-value segments: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Marital Status: Married customers generate strong positive CLV uplift, indicating higher long-term value, while single and divorced customers underperform relative to the baseline.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Income Level: Mid-income customers (0–70K) show the strongest uplift, suggesting an optimal balance between affordability and travel frequency.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Education Level:  Customers with Bachelor’s and Doctorate degrees demonstrate higher value, likely reflecting more frequent or higher-value travel behavior.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Loyalty Tier: Highly engaged members (e.g., STAR tier) respond better to the campaign, reinforcing the link between loyalty depth and customer value.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Geography (Province):Campaign performance varies across regions, indicating that geographic targeting can further optimize results.</a:t>
            </a:r>
          </a:p>
        </p:txBody>
      </p:sp>
    </p:spTree>
    <p:extLst>
      <p:ext uri="{BB962C8B-B14F-4D97-AF65-F5344CB8AC3E}">
        <p14:creationId xmlns:p14="http://schemas.microsoft.com/office/powerpoint/2010/main" val="909506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B8CE-29CB-BFC3-A097-B984E824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5934F4-E161-E0BC-1672-C606B6B319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A3115C6-D826-8EE7-35B3-960AC93C93D7}"/>
              </a:ext>
            </a:extLst>
          </p:cNvPr>
          <p:cNvSpPr/>
          <p:nvPr/>
        </p:nvSpPr>
        <p:spPr>
          <a:xfrm flipH="1">
            <a:off x="8831199" y="704936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0" y="0"/>
                </a:moveTo>
                <a:lnTo>
                  <a:pt x="0" y="0"/>
                </a:lnTo>
                <a:lnTo>
                  <a:pt x="0" y="2327771"/>
                </a:lnTo>
                <a:lnTo>
                  <a:pt x="5356030" y="2327771"/>
                </a:lnTo>
                <a:lnTo>
                  <a:pt x="53560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63BDE17-08D5-609A-13E1-AD68F47EFDE9}"/>
              </a:ext>
            </a:extLst>
          </p:cNvPr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60BCBF-B3D9-B855-0783-DB09D5427D33}"/>
              </a:ext>
            </a:extLst>
          </p:cNvPr>
          <p:cNvSpPr txBox="1"/>
          <p:nvPr/>
        </p:nvSpPr>
        <p:spPr>
          <a:xfrm>
            <a:off x="1828800" y="1170939"/>
            <a:ext cx="17297400" cy="1076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61"/>
              </a:lnSpc>
            </a:pPr>
            <a:r>
              <a:rPr lang="en-US" sz="8833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	 RECOMMENDATIONS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053E34B-D519-58D6-7220-6B32696AB64D}"/>
              </a:ext>
            </a:extLst>
          </p:cNvPr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E4D64A50-8173-5ED0-0A9A-0D32B73C9DF7}"/>
              </a:ext>
            </a:extLst>
          </p:cNvPr>
          <p:cNvGrpSpPr/>
          <p:nvPr/>
        </p:nvGrpSpPr>
        <p:grpSpPr>
          <a:xfrm>
            <a:off x="762000" y="2095500"/>
            <a:ext cx="12649200" cy="4904062"/>
            <a:chOff x="0" y="0"/>
            <a:chExt cx="1958753" cy="121071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05BCC62-0B88-9AEF-4DAE-4CE4E8A759CB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44ED9616-C7BE-A93B-C6CC-92B01EF71EF6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0">
            <a:extLst>
              <a:ext uri="{FF2B5EF4-FFF2-40B4-BE49-F238E27FC236}">
                <a16:creationId xmlns:a16="http://schemas.microsoft.com/office/drawing/2014/main" id="{738400CC-5D97-C08A-03B6-A60FC615C605}"/>
              </a:ext>
            </a:extLst>
          </p:cNvPr>
          <p:cNvSpPr txBox="1"/>
          <p:nvPr/>
        </p:nvSpPr>
        <p:spPr>
          <a:xfrm>
            <a:off x="884573" y="2297073"/>
            <a:ext cx="12129830" cy="437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Target What Works</a:t>
            </a:r>
          </a:p>
          <a:p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Focus on high value segments (married, mid-income, engaged loyalty members) - not all customers deliver the same impact.</a:t>
            </a:r>
            <a:b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</a:br>
            <a:endParaRPr lang="en-US" sz="25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Invest in Value, Not Volume</a:t>
            </a:r>
          </a:p>
          <a:p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Reallocate budget toward segments with positive CLV uplift and reduce spend on underperforming audiences.</a:t>
            </a:r>
            <a:b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</a:br>
            <a:endParaRPr lang="en-US" sz="25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Turn Loyalty into Leverage</a:t>
            </a:r>
          </a:p>
          <a:p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Use personalized bonus and benefits (tier-based rewards, upgrades, family offers) to drive repeat usage and deepen engagement.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32E9954-502F-2659-9E79-B05684F586CA}"/>
              </a:ext>
            </a:extLst>
          </p:cNvPr>
          <p:cNvGrpSpPr/>
          <p:nvPr/>
        </p:nvGrpSpPr>
        <p:grpSpPr>
          <a:xfrm>
            <a:off x="9220200" y="6869072"/>
            <a:ext cx="8997412" cy="3365015"/>
            <a:chOff x="0" y="0"/>
            <a:chExt cx="1958753" cy="12107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3F0D880-98AD-5901-935E-DE5B149E3BC9}"/>
                </a:ext>
              </a:extLst>
            </p:cNvPr>
            <p:cNvSpPr/>
            <p:nvPr/>
          </p:nvSpPr>
          <p:spPr>
            <a:xfrm>
              <a:off x="0" y="0"/>
              <a:ext cx="1958753" cy="1210712"/>
            </a:xfrm>
            <a:custGeom>
              <a:avLst/>
              <a:gdLst/>
              <a:ahLst/>
              <a:cxnLst/>
              <a:rect l="l" t="t" r="r" b="b"/>
              <a:pathLst>
                <a:path w="1958753" h="1210712">
                  <a:moveTo>
                    <a:pt x="27066" y="0"/>
                  </a:moveTo>
                  <a:lnTo>
                    <a:pt x="1931688" y="0"/>
                  </a:lnTo>
                  <a:cubicBezTo>
                    <a:pt x="1938866" y="0"/>
                    <a:pt x="1945750" y="2852"/>
                    <a:pt x="1950826" y="7927"/>
                  </a:cubicBezTo>
                  <a:cubicBezTo>
                    <a:pt x="1955901" y="13003"/>
                    <a:pt x="1958753" y="19887"/>
                    <a:pt x="1958753" y="27066"/>
                  </a:cubicBezTo>
                  <a:lnTo>
                    <a:pt x="1958753" y="1183646"/>
                  </a:lnTo>
                  <a:cubicBezTo>
                    <a:pt x="1958753" y="1198594"/>
                    <a:pt x="1946635" y="1210712"/>
                    <a:pt x="1931688" y="1210712"/>
                  </a:cubicBezTo>
                  <a:lnTo>
                    <a:pt x="27066" y="1210712"/>
                  </a:lnTo>
                  <a:cubicBezTo>
                    <a:pt x="19887" y="1210712"/>
                    <a:pt x="13003" y="1207860"/>
                    <a:pt x="7927" y="1202785"/>
                  </a:cubicBezTo>
                  <a:cubicBezTo>
                    <a:pt x="2852" y="1197709"/>
                    <a:pt x="0" y="1190825"/>
                    <a:pt x="0" y="1183646"/>
                  </a:cubicBezTo>
                  <a:lnTo>
                    <a:pt x="0" y="27066"/>
                  </a:lnTo>
                  <a:cubicBezTo>
                    <a:pt x="0" y="12118"/>
                    <a:pt x="12118" y="0"/>
                    <a:pt x="27066" y="0"/>
                  </a:cubicBezTo>
                  <a:close/>
                </a:path>
              </a:pathLst>
            </a:custGeom>
            <a:solidFill>
              <a:srgbClr val="00173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489FA26F-C046-1900-8A1E-792BE049ED68}"/>
                </a:ext>
              </a:extLst>
            </p:cNvPr>
            <p:cNvSpPr txBox="1"/>
            <p:nvPr/>
          </p:nvSpPr>
          <p:spPr>
            <a:xfrm>
              <a:off x="0" y="-57150"/>
              <a:ext cx="1958753" cy="1267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4" name="TextBox 10">
            <a:extLst>
              <a:ext uri="{FF2B5EF4-FFF2-40B4-BE49-F238E27FC236}">
                <a16:creationId xmlns:a16="http://schemas.microsoft.com/office/drawing/2014/main" id="{CB8541AF-0C82-3488-E79B-4FA5E899F1EE}"/>
              </a:ext>
            </a:extLst>
          </p:cNvPr>
          <p:cNvSpPr txBox="1"/>
          <p:nvPr/>
        </p:nvSpPr>
        <p:spPr>
          <a:xfrm>
            <a:off x="9325782" y="6776721"/>
            <a:ext cx="8997412" cy="3170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25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Win the Peak Moments</a:t>
            </a:r>
          </a:p>
          <a:p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Launch campaigns before peak seasons (e.g., summer) to convert sign-ups into real flight activity.</a:t>
            </a:r>
          </a:p>
          <a:p>
            <a:endParaRPr lang="en-US" sz="2500" dirty="0">
              <a:solidFill>
                <a:srgbClr val="FFFFFF"/>
              </a:solidFill>
              <a:latin typeface="Poppins Extra-Light"/>
              <a:cs typeface="Poppins Extra-Light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Poppins Extra-Light"/>
                <a:cs typeface="Poppins Extra-Light"/>
              </a:rPr>
              <a:t>Drive Immediate Action</a:t>
            </a:r>
          </a:p>
          <a:p>
            <a:r>
              <a:rPr lang="en-US" sz="2500" dirty="0">
                <a:solidFill>
                  <a:srgbClr val="FFFFFF"/>
                </a:solidFill>
                <a:latin typeface="Poppins Extra-Light"/>
                <a:cs typeface="Poppins Extra-Light"/>
              </a:rPr>
              <a:t>Design campaigns that push for early bookings and fast engagement, not just registrations.</a:t>
            </a:r>
          </a:p>
        </p:txBody>
      </p:sp>
    </p:spTree>
    <p:extLst>
      <p:ext uri="{BB962C8B-B14F-4D97-AF65-F5344CB8AC3E}">
        <p14:creationId xmlns:p14="http://schemas.microsoft.com/office/powerpoint/2010/main" val="2925021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 dirty="0"/>
          </a:p>
        </p:txBody>
      </p:sp>
      <p:sp>
        <p:nvSpPr>
          <p:cNvPr id="3" name="Freeform 3"/>
          <p:cNvSpPr/>
          <p:nvPr/>
        </p:nvSpPr>
        <p:spPr>
          <a:xfrm flipH="1">
            <a:off x="7937227" y="2583588"/>
            <a:ext cx="4405347" cy="1914597"/>
          </a:xfrm>
          <a:custGeom>
            <a:avLst/>
            <a:gdLst/>
            <a:ahLst/>
            <a:cxnLst/>
            <a:rect l="l" t="t" r="r" b="b"/>
            <a:pathLst>
              <a:path w="4405347" h="1914597">
                <a:moveTo>
                  <a:pt x="4405347" y="0"/>
                </a:moveTo>
                <a:lnTo>
                  <a:pt x="0" y="0"/>
                </a:lnTo>
                <a:lnTo>
                  <a:pt x="0" y="1914597"/>
                </a:lnTo>
                <a:lnTo>
                  <a:pt x="4405347" y="1914597"/>
                </a:lnTo>
                <a:lnTo>
                  <a:pt x="44053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474675" y="607300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1"/>
                </a:lnTo>
                <a:lnTo>
                  <a:pt x="0" y="536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4446310" y="7505700"/>
            <a:ext cx="9395380" cy="2292988"/>
            <a:chOff x="0" y="0"/>
            <a:chExt cx="2406978" cy="5874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6977" cy="587434"/>
            </a:xfrm>
            <a:custGeom>
              <a:avLst/>
              <a:gdLst/>
              <a:ahLst/>
              <a:cxnLst/>
              <a:rect l="l" t="t" r="r" b="b"/>
              <a:pathLst>
                <a:path w="2406977" h="587434">
                  <a:moveTo>
                    <a:pt x="21424" y="0"/>
                  </a:moveTo>
                  <a:lnTo>
                    <a:pt x="2385553" y="0"/>
                  </a:lnTo>
                  <a:cubicBezTo>
                    <a:pt x="2397385" y="0"/>
                    <a:pt x="2406977" y="9592"/>
                    <a:pt x="2406977" y="21424"/>
                  </a:cubicBezTo>
                  <a:lnTo>
                    <a:pt x="2406977" y="566010"/>
                  </a:lnTo>
                  <a:cubicBezTo>
                    <a:pt x="2406977" y="577842"/>
                    <a:pt x="2397385" y="587434"/>
                    <a:pt x="2385553" y="587434"/>
                  </a:cubicBezTo>
                  <a:lnTo>
                    <a:pt x="21424" y="587434"/>
                  </a:lnTo>
                  <a:cubicBezTo>
                    <a:pt x="9592" y="587434"/>
                    <a:pt x="0" y="577842"/>
                    <a:pt x="0" y="566010"/>
                  </a:cubicBezTo>
                  <a:lnTo>
                    <a:pt x="0" y="21424"/>
                  </a:lnTo>
                  <a:cubicBezTo>
                    <a:pt x="0" y="9592"/>
                    <a:pt x="9592" y="0"/>
                    <a:pt x="21424" y="0"/>
                  </a:cubicBezTo>
                  <a:close/>
                </a:path>
              </a:pathLst>
            </a:custGeom>
            <a:solidFill>
              <a:srgbClr val="00173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06978" cy="644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56874" y="3263983"/>
            <a:ext cx="5626789" cy="3924885"/>
          </a:xfrm>
          <a:custGeom>
            <a:avLst/>
            <a:gdLst/>
            <a:ahLst/>
            <a:cxnLst/>
            <a:rect l="l" t="t" r="r" b="b"/>
            <a:pathLst>
              <a:path w="5626789" h="3924885">
                <a:moveTo>
                  <a:pt x="0" y="0"/>
                </a:moveTo>
                <a:lnTo>
                  <a:pt x="5626788" y="0"/>
                </a:lnTo>
                <a:lnTo>
                  <a:pt x="5626788" y="3924886"/>
                </a:lnTo>
                <a:lnTo>
                  <a:pt x="0" y="3924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0" r="-2951" b="-590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Freeform 9"/>
          <p:cNvSpPr/>
          <p:nvPr/>
        </p:nvSpPr>
        <p:spPr>
          <a:xfrm>
            <a:off x="5792234" y="3263983"/>
            <a:ext cx="6550340" cy="3924885"/>
          </a:xfrm>
          <a:custGeom>
            <a:avLst/>
            <a:gdLst/>
            <a:ahLst/>
            <a:cxnLst/>
            <a:rect l="l" t="t" r="r" b="b"/>
            <a:pathLst>
              <a:path w="6550340" h="3924885">
                <a:moveTo>
                  <a:pt x="0" y="0"/>
                </a:moveTo>
                <a:lnTo>
                  <a:pt x="6550340" y="0"/>
                </a:lnTo>
                <a:lnTo>
                  <a:pt x="6550340" y="3924886"/>
                </a:lnTo>
                <a:lnTo>
                  <a:pt x="0" y="3924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Freeform 10"/>
          <p:cNvSpPr/>
          <p:nvPr/>
        </p:nvSpPr>
        <p:spPr>
          <a:xfrm>
            <a:off x="240162" y="3263983"/>
            <a:ext cx="5433418" cy="3925605"/>
          </a:xfrm>
          <a:custGeom>
            <a:avLst/>
            <a:gdLst/>
            <a:ahLst/>
            <a:cxnLst/>
            <a:rect l="l" t="t" r="r" b="b"/>
            <a:pathLst>
              <a:path w="5433418" h="3925605">
                <a:moveTo>
                  <a:pt x="0" y="0"/>
                </a:moveTo>
                <a:lnTo>
                  <a:pt x="5433418" y="0"/>
                </a:lnTo>
                <a:lnTo>
                  <a:pt x="5433418" y="3925605"/>
                </a:lnTo>
                <a:lnTo>
                  <a:pt x="0" y="3925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69854" y="1029901"/>
            <a:ext cx="11093946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Audience for Future Campaigns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28085" y="8140783"/>
            <a:ext cx="9031831" cy="88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4"/>
              </a:lnSpc>
              <a:spcBef>
                <a:spcPct val="0"/>
              </a:spcBef>
            </a:pPr>
            <a:r>
              <a:rPr lang="en-US" sz="250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Instead of targeting broadly, we identified who actually generates value - and focused on those segments.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7532826" y="7245967"/>
            <a:ext cx="5356031" cy="2327772"/>
          </a:xfrm>
          <a:custGeom>
            <a:avLst/>
            <a:gdLst/>
            <a:ahLst/>
            <a:cxnLst/>
            <a:rect l="l" t="t" r="r" b="b"/>
            <a:pathLst>
              <a:path w="5356031" h="2327772">
                <a:moveTo>
                  <a:pt x="5356031" y="0"/>
                </a:moveTo>
                <a:lnTo>
                  <a:pt x="0" y="0"/>
                </a:lnTo>
                <a:lnTo>
                  <a:pt x="0" y="2327772"/>
                </a:lnTo>
                <a:lnTo>
                  <a:pt x="5356031" y="2327772"/>
                </a:lnTo>
                <a:lnTo>
                  <a:pt x="53560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1918337" y="704936"/>
            <a:ext cx="5917265" cy="8868803"/>
            <a:chOff x="0" y="0"/>
            <a:chExt cx="812800" cy="12182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218226"/>
            </a:xfrm>
            <a:custGeom>
              <a:avLst/>
              <a:gdLst/>
              <a:ahLst/>
              <a:cxnLst/>
              <a:rect l="l" t="t" r="r" b="b"/>
              <a:pathLst>
                <a:path w="812800" h="1218226">
                  <a:moveTo>
                    <a:pt x="56260" y="0"/>
                  </a:moveTo>
                  <a:lnTo>
                    <a:pt x="756540" y="0"/>
                  </a:lnTo>
                  <a:cubicBezTo>
                    <a:pt x="787612" y="0"/>
                    <a:pt x="812800" y="25188"/>
                    <a:pt x="812800" y="56260"/>
                  </a:cubicBezTo>
                  <a:lnTo>
                    <a:pt x="812800" y="1161966"/>
                  </a:lnTo>
                  <a:cubicBezTo>
                    <a:pt x="812800" y="1193037"/>
                    <a:pt x="787612" y="1218226"/>
                    <a:pt x="756540" y="1218226"/>
                  </a:cubicBezTo>
                  <a:lnTo>
                    <a:pt x="56260" y="1218226"/>
                  </a:lnTo>
                  <a:cubicBezTo>
                    <a:pt x="25188" y="1218226"/>
                    <a:pt x="0" y="1193037"/>
                    <a:pt x="0" y="1161966"/>
                  </a:cubicBezTo>
                  <a:lnTo>
                    <a:pt x="0" y="56260"/>
                  </a:lnTo>
                  <a:cubicBezTo>
                    <a:pt x="0" y="25188"/>
                    <a:pt x="25188" y="0"/>
                    <a:pt x="56260" y="0"/>
                  </a:cubicBezTo>
                  <a:close/>
                </a:path>
              </a:pathLst>
            </a:custGeom>
            <a:blipFill>
              <a:blip r:embed="rId4"/>
              <a:stretch>
                <a:fillRect t="-9306" b="-930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6" name="Freeform 6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TextBox 7"/>
          <p:cNvSpPr txBox="1"/>
          <p:nvPr/>
        </p:nvSpPr>
        <p:spPr>
          <a:xfrm>
            <a:off x="184486" y="4610398"/>
            <a:ext cx="11648126" cy="11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8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ANY QUESTIONS?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82B2EBB6-BC2E-2924-0245-20E161AF9FE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91" t="-20989" b="-5004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0538346" y="2907304"/>
            <a:ext cx="6075034" cy="3119922"/>
            <a:chOff x="0" y="0"/>
            <a:chExt cx="941182" cy="483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182" cy="483358"/>
            </a:xfrm>
            <a:custGeom>
              <a:avLst/>
              <a:gdLst/>
              <a:ahLst/>
              <a:cxnLst/>
              <a:rect l="l" t="t" r="r" b="b"/>
              <a:pathLst>
                <a:path w="941182" h="483358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57870"/>
                  </a:lnTo>
                  <a:cubicBezTo>
                    <a:pt x="941182" y="471946"/>
                    <a:pt x="929771" y="483358"/>
                    <a:pt x="915694" y="483358"/>
                  </a:cubicBezTo>
                  <a:lnTo>
                    <a:pt x="25488" y="483358"/>
                  </a:lnTo>
                  <a:cubicBezTo>
                    <a:pt x="18728" y="483358"/>
                    <a:pt x="12245" y="480672"/>
                    <a:pt x="7465" y="475892"/>
                  </a:cubicBezTo>
                  <a:cubicBezTo>
                    <a:pt x="2685" y="471113"/>
                    <a:pt x="0" y="464630"/>
                    <a:pt x="0" y="457870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3"/>
              <a:stretch>
                <a:fillRect l="-3241" t="-38141" r="-3241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38346" y="6300203"/>
            <a:ext cx="6075034" cy="2958097"/>
            <a:chOff x="0" y="0"/>
            <a:chExt cx="941182" cy="4582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182" cy="458287"/>
            </a:xfrm>
            <a:custGeom>
              <a:avLst/>
              <a:gdLst/>
              <a:ahLst/>
              <a:cxnLst/>
              <a:rect l="l" t="t" r="r" b="b"/>
              <a:pathLst>
                <a:path w="941182" h="458287">
                  <a:moveTo>
                    <a:pt x="25488" y="0"/>
                  </a:moveTo>
                  <a:lnTo>
                    <a:pt x="915694" y="0"/>
                  </a:lnTo>
                  <a:cubicBezTo>
                    <a:pt x="922454" y="0"/>
                    <a:pt x="928937" y="2685"/>
                    <a:pt x="933717" y="7465"/>
                  </a:cubicBezTo>
                  <a:cubicBezTo>
                    <a:pt x="938496" y="12245"/>
                    <a:pt x="941182" y="18728"/>
                    <a:pt x="941182" y="25488"/>
                  </a:cubicBezTo>
                  <a:lnTo>
                    <a:pt x="941182" y="432799"/>
                  </a:lnTo>
                  <a:cubicBezTo>
                    <a:pt x="941182" y="446875"/>
                    <a:pt x="929771" y="458287"/>
                    <a:pt x="915694" y="458287"/>
                  </a:cubicBezTo>
                  <a:lnTo>
                    <a:pt x="25488" y="458287"/>
                  </a:lnTo>
                  <a:cubicBezTo>
                    <a:pt x="11411" y="458287"/>
                    <a:pt x="0" y="446875"/>
                    <a:pt x="0" y="432799"/>
                  </a:cubicBezTo>
                  <a:lnTo>
                    <a:pt x="0" y="25488"/>
                  </a:lnTo>
                  <a:cubicBezTo>
                    <a:pt x="0" y="11411"/>
                    <a:pt x="11411" y="0"/>
                    <a:pt x="25488" y="0"/>
                  </a:cubicBezTo>
                  <a:close/>
                </a:path>
              </a:pathLst>
            </a:custGeom>
            <a:blipFill>
              <a:blip r:embed="rId4"/>
              <a:stretch>
                <a:fillRect t="-7760" b="-776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4332" y="3202579"/>
            <a:ext cx="7158983" cy="341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0"/>
              </a:lnSpc>
            </a:pPr>
            <a:r>
              <a:rPr lang="en-US" sz="14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5532614" y="1046566"/>
            <a:ext cx="2161534" cy="2573399"/>
          </a:xfrm>
          <a:custGeom>
            <a:avLst/>
            <a:gdLst/>
            <a:ahLst/>
            <a:cxnLst/>
            <a:rect l="l" t="t" r="r" b="b"/>
            <a:pathLst>
              <a:path w="2161534" h="2573399">
                <a:moveTo>
                  <a:pt x="2161533" y="0"/>
                </a:moveTo>
                <a:lnTo>
                  <a:pt x="0" y="0"/>
                </a:lnTo>
                <a:lnTo>
                  <a:pt x="0" y="2573399"/>
                </a:lnTo>
                <a:lnTo>
                  <a:pt x="2161533" y="2573399"/>
                </a:lnTo>
                <a:lnTo>
                  <a:pt x="21615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Freeform 9"/>
          <p:cNvSpPr/>
          <p:nvPr/>
        </p:nvSpPr>
        <p:spPr>
          <a:xfrm>
            <a:off x="600634" y="595553"/>
            <a:ext cx="554025" cy="536900"/>
          </a:xfrm>
          <a:custGeom>
            <a:avLst/>
            <a:gdLst/>
            <a:ahLst/>
            <a:cxnLst/>
            <a:rect l="l" t="t" r="r" b="b"/>
            <a:pathLst>
              <a:path w="554025" h="536900">
                <a:moveTo>
                  <a:pt x="0" y="0"/>
                </a:moveTo>
                <a:lnTo>
                  <a:pt x="554025" y="0"/>
                </a:lnTo>
                <a:lnTo>
                  <a:pt x="554025" y="536900"/>
                </a:lnTo>
                <a:lnTo>
                  <a:pt x="0" y="53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236266" y="647786"/>
            <a:ext cx="253940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NLA Airlines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1168</Words>
  <Application>Microsoft Office PowerPoint</Application>
  <PresentationFormat>Custom</PresentationFormat>
  <Paragraphs>167</Paragraphs>
  <Slides>24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Poppins Semi-Bold</vt:lpstr>
      <vt:lpstr>Poppins Extra-Light</vt:lpstr>
      <vt:lpstr>Poppins Bold</vt:lpstr>
      <vt:lpstr>Poppins Light</vt:lpstr>
      <vt:lpstr>Calibri</vt:lpstr>
      <vt:lpstr>Poppins</vt:lpstr>
      <vt:lpstr>Poppins ExtraLight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Nla</dc:title>
  <cp:lastModifiedBy>Stav Sivilia</cp:lastModifiedBy>
  <cp:revision>14</cp:revision>
  <dcterms:created xsi:type="dcterms:W3CDTF">2006-08-16T00:00:00Z</dcterms:created>
  <dcterms:modified xsi:type="dcterms:W3CDTF">2026-04-25T10:09:03Z</dcterms:modified>
  <dc:identifier>DAHGwFEQcNg</dc:identifier>
</cp:coreProperties>
</file>